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2" r:id="rId1"/>
  </p:sldMasterIdLst>
  <p:notesMasterIdLst>
    <p:notesMasterId r:id="rId17"/>
  </p:notesMasterIdLst>
  <p:sldIdLst>
    <p:sldId id="256" r:id="rId2"/>
    <p:sldId id="257" r:id="rId3"/>
    <p:sldId id="258" r:id="rId4"/>
    <p:sldId id="260" r:id="rId5"/>
    <p:sldId id="261" r:id="rId6"/>
    <p:sldId id="259" r:id="rId7"/>
    <p:sldId id="263" r:id="rId8"/>
    <p:sldId id="264" r:id="rId9"/>
    <p:sldId id="270" r:id="rId10"/>
    <p:sldId id="265" r:id="rId11"/>
    <p:sldId id="268" r:id="rId12"/>
    <p:sldId id="269" r:id="rId13"/>
    <p:sldId id="272" r:id="rId14"/>
    <p:sldId id="271" r:id="rId15"/>
    <p:sldId id="26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-504" y="4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16CC94-32C1-488B-8842-998D8B34EECE}" type="datetimeFigureOut">
              <a:rPr lang="ru-RU" smtClean="0"/>
              <a:t>26.10.2024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654F67-F5BB-4CD2-AD3A-D01C0DD6D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7638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654F67-F5BB-4CD2-AD3A-D01C0DD6DFA3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160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CE296-2476-4637-BE6D-F3645853F252}" type="datetimeFigureOut">
              <a:rPr lang="ru-RU" smtClean="0"/>
              <a:t>26.10.2024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D0ED3-D2B2-435F-B3EA-9B07B043C411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681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CE296-2476-4637-BE6D-F3645853F252}" type="datetimeFigureOut">
              <a:rPr lang="ru-RU" smtClean="0"/>
              <a:t>26.10.2024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D0ED3-D2B2-435F-B3EA-9B07B043C4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1660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CE296-2476-4637-BE6D-F3645853F252}" type="datetimeFigureOut">
              <a:rPr lang="ru-RU" smtClean="0"/>
              <a:t>26.10.2024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D0ED3-D2B2-435F-B3EA-9B07B043C4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2982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CE296-2476-4637-BE6D-F3645853F252}" type="datetimeFigureOut">
              <a:rPr lang="ru-RU" smtClean="0"/>
              <a:t>26.10.2024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D0ED3-D2B2-435F-B3EA-9B07B043C4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1073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CE296-2476-4637-BE6D-F3645853F252}" type="datetimeFigureOut">
              <a:rPr lang="ru-RU" smtClean="0"/>
              <a:t>26.10.2024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D0ED3-D2B2-435F-B3EA-9B07B043C4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2852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CE296-2476-4637-BE6D-F3645853F252}" type="datetimeFigureOut">
              <a:rPr lang="ru-RU" smtClean="0"/>
              <a:t>26.10.2024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D0ED3-D2B2-435F-B3EA-9B07B043C4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1710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CE296-2476-4637-BE6D-F3645853F252}" type="datetimeFigureOut">
              <a:rPr lang="ru-RU" smtClean="0"/>
              <a:t>26.10.2024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D0ED3-D2B2-435F-B3EA-9B07B043C4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9156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CE296-2476-4637-BE6D-F3645853F252}" type="datetimeFigureOut">
              <a:rPr lang="ru-RU" smtClean="0"/>
              <a:t>26.10.2024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D0ED3-D2B2-435F-B3EA-9B07B043C4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9708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CE296-2476-4637-BE6D-F3645853F252}" type="datetimeFigureOut">
              <a:rPr lang="ru-RU" smtClean="0"/>
              <a:t>26.10.2024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D0ED3-D2B2-435F-B3EA-9B07B043C4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0479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CE296-2476-4637-BE6D-F3645853F252}" type="datetimeFigureOut">
              <a:rPr lang="ru-RU" smtClean="0"/>
              <a:t>26.10.2024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D0ED3-D2B2-435F-B3EA-9B07B043C4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9631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CE296-2476-4637-BE6D-F3645853F252}" type="datetimeFigureOut">
              <a:rPr lang="ru-RU" smtClean="0"/>
              <a:t>26.10.2024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D0ED3-D2B2-435F-B3EA-9B07B043C4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27571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CE296-2476-4637-BE6D-F3645853F252}" type="datetimeFigureOut">
              <a:rPr lang="ru-RU" smtClean="0"/>
              <a:t>26.10.2024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D0ED3-D2B2-435F-B3EA-9B07B043C411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400037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CE296-2476-4637-BE6D-F3645853F252}" type="datetimeFigureOut">
              <a:rPr lang="ru-RU" smtClean="0"/>
              <a:t>26.10.2024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D0ED3-D2B2-435F-B3EA-9B07B043C4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33101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CE296-2476-4637-BE6D-F3645853F252}" type="datetimeFigureOut">
              <a:rPr lang="ru-RU" smtClean="0"/>
              <a:t>26.10.2024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D0ED3-D2B2-435F-B3EA-9B07B043C411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21855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CE296-2476-4637-BE6D-F3645853F252}" type="datetimeFigureOut">
              <a:rPr lang="ru-RU" smtClean="0"/>
              <a:t>26.10.2024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D0ED3-D2B2-435F-B3EA-9B07B043C4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15514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CE296-2476-4637-BE6D-F3645853F252}" type="datetimeFigureOut">
              <a:rPr lang="ru-RU" smtClean="0"/>
              <a:t>26.10.2024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D0ED3-D2B2-435F-B3EA-9B07B043C4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08936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CE296-2476-4637-BE6D-F3645853F252}" type="datetimeFigureOut">
              <a:rPr lang="ru-RU" smtClean="0"/>
              <a:t>26.10.2024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D0ED3-D2B2-435F-B3EA-9B07B043C4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1729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3DCCE296-2476-4637-BE6D-F3645853F252}" type="datetimeFigureOut">
              <a:rPr lang="ru-RU" smtClean="0"/>
              <a:t>26.10.2024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4B0D0ED3-D2B2-435F-B3EA-9B07B043C4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51176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  <p:sldLayoutId id="2147483834" r:id="rId12"/>
    <p:sldLayoutId id="2147483835" r:id="rId13"/>
    <p:sldLayoutId id="2147483836" r:id="rId14"/>
    <p:sldLayoutId id="2147483837" r:id="rId15"/>
    <p:sldLayoutId id="2147483838" r:id="rId16"/>
    <p:sldLayoutId id="214748383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5603FD6A-171F-E54A-5CCB-A7BCDC731FEB}"/>
              </a:ext>
            </a:extLst>
          </p:cNvPr>
          <p:cNvSpPr txBox="1"/>
          <p:nvPr/>
        </p:nvSpPr>
        <p:spPr>
          <a:xfrm>
            <a:off x="2802457" y="205251"/>
            <a:ext cx="73448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latin typeface="Arial" pitchFamily="34" charset="0"/>
                <a:cs typeface="Arial" pitchFamily="34" charset="0"/>
              </a:rPr>
              <a:t>МИНИСТЕРСТВО ОБРАЗОВАНИЯ ИРКУТСКОЙ ОБЛАСТИ </a:t>
            </a:r>
            <a:endParaRPr lang="en-US" sz="1600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ru-RU" sz="1600" dirty="0">
                <a:latin typeface="Arial" pitchFamily="34" charset="0"/>
                <a:cs typeface="Arial" pitchFamily="34" charset="0"/>
              </a:rPr>
              <a:t>Государственное бюджетное профессиональное образовательное учреждение Иркутской области «Ангарский промышленно – экономический техникум»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xmlns="" id="{A62131AB-9F73-CF0A-BF64-E920B817FCE1}"/>
              </a:ext>
            </a:extLst>
          </p:cNvPr>
          <p:cNvSpPr/>
          <p:nvPr/>
        </p:nvSpPr>
        <p:spPr>
          <a:xfrm>
            <a:off x="2245764" y="1748606"/>
            <a:ext cx="845819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ОТЧЁТ </a:t>
            </a: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по практической подготовке в виде учебной практики профессионального модуля</a:t>
            </a: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(ПМ.0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) Сопровождение и обслуживание программного обеспечения компьютерных систем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xmlns="" id="{E0E05108-D123-1911-D4CC-B203684E8D35}"/>
              </a:ext>
            </a:extLst>
          </p:cNvPr>
          <p:cNvSpPr/>
          <p:nvPr/>
        </p:nvSpPr>
        <p:spPr>
          <a:xfrm>
            <a:off x="2245764" y="3321910"/>
            <a:ext cx="8458200" cy="8720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i="1" dirty="0">
                <a:latin typeface="Arial" panose="020B0604020202020204" pitchFamily="34" charset="0"/>
                <a:cs typeface="Arial" panose="020B0604020202020204" pitchFamily="34" charset="0"/>
              </a:rPr>
              <a:t>по специальности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09.02.07 Информационные системы и программирование</a:t>
            </a:r>
          </a:p>
          <a:p>
            <a:pPr algn="just">
              <a:lnSpc>
                <a:spcPct val="150000"/>
              </a:lnSpc>
            </a:pPr>
            <a:r>
              <a:rPr lang="ru-RU" i="1" dirty="0">
                <a:latin typeface="Arial" panose="020B0604020202020204" pitchFamily="34" charset="0"/>
                <a:cs typeface="Arial" panose="020B0604020202020204" pitchFamily="34" charset="0"/>
              </a:rPr>
              <a:t>обучающегося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курса </a:t>
            </a:r>
            <a:r>
              <a:rPr lang="ru-RU" i="1" dirty="0">
                <a:latin typeface="Arial" panose="020B0604020202020204" pitchFamily="34" charset="0"/>
                <a:cs typeface="Arial" panose="020B0604020202020204" pitchFamily="34" charset="0"/>
              </a:rPr>
              <a:t>группы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ИСПП-5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22E007DC-1E22-2DFB-C843-7329112A0FF4}"/>
              </a:ext>
            </a:extLst>
          </p:cNvPr>
          <p:cNvSpPr/>
          <p:nvPr/>
        </p:nvSpPr>
        <p:spPr>
          <a:xfrm>
            <a:off x="4030631" y="4603339"/>
            <a:ext cx="48884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Иванченко Илья Владимирович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xmlns="" id="{73B10064-F558-5DD6-F3B3-067456513370}"/>
              </a:ext>
            </a:extLst>
          </p:cNvPr>
          <p:cNvSpPr/>
          <p:nvPr/>
        </p:nvSpPr>
        <p:spPr>
          <a:xfrm>
            <a:off x="2896606" y="5287224"/>
            <a:ext cx="72150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i="1" dirty="0">
                <a:latin typeface="Arial" panose="020B0604020202020204" pitchFamily="34" charset="0"/>
                <a:cs typeface="Arial" panose="020B0604020202020204" pitchFamily="34" charset="0"/>
              </a:rPr>
              <a:t>Руководитель практики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Аверьянов Николай Владимирович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xmlns="" id="{B1C4BF19-DA87-B90B-A0A3-7A64A0551F99}"/>
              </a:ext>
            </a:extLst>
          </p:cNvPr>
          <p:cNvCxnSpPr>
            <a:cxnSpLocks/>
          </p:cNvCxnSpPr>
          <p:nvPr/>
        </p:nvCxnSpPr>
        <p:spPr>
          <a:xfrm flipH="1">
            <a:off x="3579265" y="4998329"/>
            <a:ext cx="583264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xmlns="" id="{536A5955-CA4F-967F-B132-EEF9B151005E}"/>
              </a:ext>
            </a:extLst>
          </p:cNvPr>
          <p:cNvCxnSpPr>
            <a:cxnSpLocks/>
          </p:cNvCxnSpPr>
          <p:nvPr/>
        </p:nvCxnSpPr>
        <p:spPr>
          <a:xfrm flipH="1">
            <a:off x="5754901" y="5589881"/>
            <a:ext cx="414291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5385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CDE6697C-F002-016D-C195-87E86CA6F631}"/>
              </a:ext>
            </a:extLst>
          </p:cNvPr>
          <p:cNvSpPr/>
          <p:nvPr/>
        </p:nvSpPr>
        <p:spPr>
          <a:xfrm>
            <a:off x="107504" y="1383479"/>
            <a:ext cx="11989246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spcAft>
                <a:spcPts val="0"/>
              </a:spcAft>
            </a:pPr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Цель проведения практической подготовки в виде  учебной (по профилю специальности) практики по профессиональному модулю (ПМ. 04) Сопровождение и обслуживание программного обеспечения компьютерных систем. Заключается в </a:t>
            </a:r>
            <a:r>
              <a:rPr lang="ru-RU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повышени</a:t>
            </a:r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и</a:t>
            </a:r>
            <a:r>
              <a:rPr lang="ru-RU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эффективности производства, </a:t>
            </a:r>
            <a:r>
              <a:rPr lang="ru-RU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улучшении </a:t>
            </a:r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качества продукции и оптимизации управления производственными процессами.</a:t>
            </a:r>
          </a:p>
          <a:p>
            <a:pPr indent="450215" algn="just">
              <a:lnSpc>
                <a:spcPct val="150000"/>
              </a:lnSpc>
              <a:spcAft>
                <a:spcPts val="0"/>
              </a:spcAft>
            </a:pPr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Основные задачи учебной практики:</a:t>
            </a:r>
          </a:p>
          <a:p>
            <a:pPr indent="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–"/>
            </a:pPr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формирование знаний, умений и навыков, профессиональных компетенций, профессионально значимых личностных качеств; </a:t>
            </a:r>
          </a:p>
          <a:p>
            <a:pPr indent="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–"/>
            </a:pPr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развитие профессионального интереса, формирование мотивационно-целостного отношения к профессиональной деятельности, готовности к выполнению профессиональных задач в соответствии с нормами морали, профессиональной этики и служебного этикета.</a:t>
            </a:r>
          </a:p>
          <a:p>
            <a:pPr indent="450215" algn="just">
              <a:lnSpc>
                <a:spcPct val="150000"/>
              </a:lnSpc>
              <a:spcAft>
                <a:spcPts val="0"/>
              </a:spcAft>
            </a:pPr>
            <a:endParaRPr lang="ru-RU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indent="450215" algn="just">
              <a:lnSpc>
                <a:spcPct val="150000"/>
              </a:lnSpc>
              <a:spcAft>
                <a:spcPts val="0"/>
              </a:spcAft>
            </a:pPr>
            <a:endParaRPr lang="ru-RU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xmlns="" id="{80CE5632-AFB6-E9C4-EFB7-07B27A509390}"/>
              </a:ext>
            </a:extLst>
          </p:cNvPr>
          <p:cNvSpPr/>
          <p:nvPr/>
        </p:nvSpPr>
        <p:spPr>
          <a:xfrm>
            <a:off x="179512" y="132404"/>
            <a:ext cx="770396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Цель </a:t>
            </a:r>
            <a:r>
              <a:rPr lang="ru-RU" sz="3600" b="1" dirty="0">
                <a:latin typeface="Arial" panose="020B0604020202020204" pitchFamily="34" charset="0"/>
                <a:cs typeface="Arial" panose="020B0604020202020204" pitchFamily="34" charset="0"/>
              </a:rPr>
              <a:t>и задачи учебной практики</a:t>
            </a:r>
          </a:p>
        </p:txBody>
      </p:sp>
    </p:spTree>
    <p:extLst>
      <p:ext uri="{BB962C8B-B14F-4D97-AF65-F5344CB8AC3E}">
        <p14:creationId xmlns:p14="http://schemas.microsoft.com/office/powerpoint/2010/main" val="1641751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FD945733-116D-40DB-C0A1-ADCC9E9A42D0}"/>
              </a:ext>
            </a:extLst>
          </p:cNvPr>
          <p:cNvSpPr/>
          <p:nvPr/>
        </p:nvSpPr>
        <p:spPr>
          <a:xfrm>
            <a:off x="179512" y="132404"/>
            <a:ext cx="638194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latin typeface="Arial" panose="020B0604020202020204" pitchFamily="34" charset="0"/>
                <a:cs typeface="Arial" panose="020B0604020202020204" pitchFamily="34" charset="0"/>
              </a:rPr>
              <a:t>Программное обеспечение</a:t>
            </a:r>
          </a:p>
        </p:txBody>
      </p:sp>
      <p:pic>
        <p:nvPicPr>
          <p:cNvPr id="6" name="Рисунок 5" descr="Изображение выглядит как круг, Графика, логотип, Красочность&#10;&#10;Автоматически созданное описание">
            <a:extLst>
              <a:ext uri="{FF2B5EF4-FFF2-40B4-BE49-F238E27FC236}">
                <a16:creationId xmlns:a16="http://schemas.microsoft.com/office/drawing/2014/main" xmlns="" id="{4B054971-89F0-0A4E-CB9C-68FE7E5269C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3975" y="858366"/>
            <a:ext cx="2828925" cy="2828925"/>
          </a:xfrm>
          <a:prstGeom prst="rect">
            <a:avLst/>
          </a:prstGeom>
        </p:spPr>
      </p:pic>
      <p:pic>
        <p:nvPicPr>
          <p:cNvPr id="8" name="Рисунок 7" descr="Изображение выглядит как снимок экрана, Графика, символ, логотип&#10;&#10;Автоматически созданное описание">
            <a:extLst>
              <a:ext uri="{FF2B5EF4-FFF2-40B4-BE49-F238E27FC236}">
                <a16:creationId xmlns:a16="http://schemas.microsoft.com/office/drawing/2014/main" xmlns="" id="{03F8BA5A-BBCD-B79C-D0F2-E47497A9675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8700" y="867891"/>
            <a:ext cx="2828925" cy="2828925"/>
          </a:xfrm>
          <a:prstGeom prst="rect">
            <a:avLst/>
          </a:prstGeom>
        </p:spPr>
      </p:pic>
      <p:pic>
        <p:nvPicPr>
          <p:cNvPr id="10" name="Рисунок 9" descr="Изображение выглядит как графическая вставка, мультфильм, Графика, искусство&#10;&#10;Автоматически созданное описание">
            <a:extLst>
              <a:ext uri="{FF2B5EF4-FFF2-40B4-BE49-F238E27FC236}">
                <a16:creationId xmlns:a16="http://schemas.microsoft.com/office/drawing/2014/main" xmlns="" id="{4FB9292E-D7E4-3EFF-85CA-6F643EA0C76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3424" y="867891"/>
            <a:ext cx="2828925" cy="28289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82135BCE-F26F-B812-4DAB-0251AA1FBC5F}"/>
              </a:ext>
            </a:extLst>
          </p:cNvPr>
          <p:cNvSpPr txBox="1"/>
          <p:nvPr/>
        </p:nvSpPr>
        <p:spPr>
          <a:xfrm>
            <a:off x="1270793" y="3706029"/>
            <a:ext cx="29328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1C: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Предприятие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E0384A74-A28C-3695-D2AB-9776A2CEAE2B}"/>
              </a:ext>
            </a:extLst>
          </p:cNvPr>
          <p:cNvSpPr txBox="1"/>
          <p:nvPr/>
        </p:nvSpPr>
        <p:spPr>
          <a:xfrm>
            <a:off x="4838699" y="3696504"/>
            <a:ext cx="29328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MS Visio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7EEC10DD-1CB5-7004-30F2-BA88616CFF08}"/>
              </a:ext>
            </a:extLst>
          </p:cNvPr>
          <p:cNvSpPr txBox="1"/>
          <p:nvPr/>
        </p:nvSpPr>
        <p:spPr>
          <a:xfrm>
            <a:off x="8247061" y="3706029"/>
            <a:ext cx="29328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Android Studio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Рисунок 14" descr="Изображение выглядит как Шрифт, снимок экрана, График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xmlns="" id="{E47ACACC-BBB7-54E2-A6E2-BAC29E3A288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2900" y="4124876"/>
            <a:ext cx="4459709" cy="227610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AAB8FA07-4AB8-D76F-F0CE-85ADBF057A00}"/>
              </a:ext>
            </a:extLst>
          </p:cNvPr>
          <p:cNvSpPr txBox="1"/>
          <p:nvPr/>
        </p:nvSpPr>
        <p:spPr>
          <a:xfrm>
            <a:off x="4786742" y="6200464"/>
            <a:ext cx="29328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Kaspersky Anti-virus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1845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xmlns="" id="{E62FFE5A-D04A-5DA9-B2EC-818DE81AA088}"/>
              </a:ext>
            </a:extLst>
          </p:cNvPr>
          <p:cNvSpPr/>
          <p:nvPr/>
        </p:nvSpPr>
        <p:spPr>
          <a:xfrm>
            <a:off x="179512" y="132404"/>
            <a:ext cx="497129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latin typeface="Arial" panose="020B0604020202020204" pitchFamily="34" charset="0"/>
                <a:cs typeface="Arial" panose="020B0604020202020204" pitchFamily="34" charset="0"/>
              </a:rPr>
              <a:t>Предметная область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xmlns="" id="{FFF1AC93-5794-5F0C-B254-4751F365D97F}"/>
              </a:ext>
            </a:extLst>
          </p:cNvPr>
          <p:cNvSpPr/>
          <p:nvPr/>
        </p:nvSpPr>
        <p:spPr>
          <a:xfrm>
            <a:off x="107504" y="1383479"/>
            <a:ext cx="11989246" cy="3780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spcAft>
                <a:spcPts val="0"/>
              </a:spcAft>
            </a:pPr>
            <a:r>
              <a:rPr lang="ru-RU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Предметная область: Организация, занимающаяся продажей строительных материалов, заказала информационную систему для автоматизации ключевых бизнес-процессов. Таких как, продажа, учет товара на складах, управление финансами, ценообразование и кадровый учет в организации.</a:t>
            </a:r>
          </a:p>
          <a:p>
            <a:pPr indent="450215" algn="just">
              <a:lnSpc>
                <a:spcPct val="150000"/>
              </a:lnSpc>
              <a:spcAft>
                <a:spcPts val="0"/>
              </a:spcAft>
            </a:pPr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Исходя из анализа предметной области, можно выделить пять объектов(подсистемы):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</a:p>
          <a:p>
            <a:pPr indent="450215" algn="just">
              <a:lnSpc>
                <a:spcPct val="150000"/>
              </a:lnSpc>
              <a:spcAft>
                <a:spcPts val="0"/>
              </a:spcAft>
            </a:pPr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Закупка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</a:t>
            </a:r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в данном объекте осуществляется заполнение данных о поступивших на склад товарах, контрагентах и заказах поставщикам. Кадровый учет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</a:t>
            </a:r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здесь ведется учет сотрудников и информация о них.. В объекте Продажи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ведется учет проданных товарах. Склад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</a:t>
            </a:r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в данном объекте осуществляется учет перемещения товаров, находящихся на складах, а также номенклатуры. В последнем объекте Ценообразование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</a:t>
            </a:r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ведется учет цен на продаваемые товары и различных типов продаж.</a:t>
            </a:r>
          </a:p>
        </p:txBody>
      </p:sp>
    </p:spTree>
    <p:extLst>
      <p:ext uri="{BB962C8B-B14F-4D97-AF65-F5344CB8AC3E}">
        <p14:creationId xmlns:p14="http://schemas.microsoft.com/office/powerpoint/2010/main" val="2533095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F6978508-060D-BB17-8113-8C8926AEB08C}"/>
              </a:ext>
            </a:extLst>
          </p:cNvPr>
          <p:cNvSpPr/>
          <p:nvPr/>
        </p:nvSpPr>
        <p:spPr>
          <a:xfrm>
            <a:off x="179512" y="132404"/>
            <a:ext cx="953870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latin typeface="Arial" panose="020B0604020202020204" pitchFamily="34" charset="0"/>
                <a:cs typeface="Arial" panose="020B0604020202020204" pitchFamily="34" charset="0"/>
              </a:rPr>
              <a:t>Моделирование программного продукта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xmlns="" id="{2CB6AE07-AA92-19D8-C982-833A2ECB7D80}"/>
              </a:ext>
            </a:extLst>
          </p:cNvPr>
          <p:cNvSpPr/>
          <p:nvPr/>
        </p:nvSpPr>
        <p:spPr>
          <a:xfrm>
            <a:off x="107504" y="1383479"/>
            <a:ext cx="11989246" cy="1287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42900" algn="just">
              <a:lnSpc>
                <a:spcPct val="150000"/>
              </a:lnSpc>
              <a:buFont typeface="+mj-lt"/>
              <a:buAutoNum type="arabicParenR"/>
            </a:pP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Схема локальной вычислительной сети.</a:t>
            </a:r>
          </a:p>
          <a:p>
            <a:pPr indent="342900" algn="just">
              <a:lnSpc>
                <a:spcPct val="150000"/>
              </a:lnSpc>
              <a:buClrTx/>
              <a:buFont typeface="+mj-lt"/>
              <a:buAutoNum type="arabicParenR"/>
            </a:pP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Сетевая диаграмма этапов внедрения информационной системы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ru-RU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342900" algn="just">
              <a:lnSpc>
                <a:spcPct val="150000"/>
              </a:lnSpc>
              <a:buClrTx/>
              <a:buFont typeface="+mj-lt"/>
              <a:buAutoNum type="arabicParenR"/>
            </a:pP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Временная диаграмма длительности этапов внедрения информационной системы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ru-RU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3306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8DC5B043-43D4-4808-EDEF-06DB5AD19BBC}"/>
              </a:ext>
            </a:extLst>
          </p:cNvPr>
          <p:cNvSpPr/>
          <p:nvPr/>
        </p:nvSpPr>
        <p:spPr>
          <a:xfrm>
            <a:off x="179512" y="132404"/>
            <a:ext cx="945265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latin typeface="Arial" panose="020B0604020202020204" pitchFamily="34" charset="0"/>
                <a:cs typeface="Arial" panose="020B0604020202020204" pitchFamily="34" charset="0"/>
              </a:rPr>
              <a:t>Схема локальной вычислительной сети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5003BE45-66B6-7E64-494D-EA5F5FD2F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1537" y="1447323"/>
            <a:ext cx="8544465" cy="39633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DC258E07-59AA-BAAB-3F89-6F90C768EC25}"/>
              </a:ext>
            </a:extLst>
          </p:cNvPr>
          <p:cNvSpPr txBox="1"/>
          <p:nvPr/>
        </p:nvSpPr>
        <p:spPr>
          <a:xfrm>
            <a:off x="2141537" y="5486876"/>
            <a:ext cx="86121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Схема локальной вычислительной сети 138 кабинета</a:t>
            </a:r>
          </a:p>
        </p:txBody>
      </p:sp>
    </p:spTree>
    <p:extLst>
      <p:ext uri="{BB962C8B-B14F-4D97-AF65-F5344CB8AC3E}">
        <p14:creationId xmlns:p14="http://schemas.microsoft.com/office/powerpoint/2010/main" val="1143553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432E2A8A-D222-22E3-2E4C-8D24EAD833F0}"/>
              </a:ext>
            </a:extLst>
          </p:cNvPr>
          <p:cNvSpPr/>
          <p:nvPr/>
        </p:nvSpPr>
        <p:spPr>
          <a:xfrm>
            <a:off x="179512" y="132404"/>
            <a:ext cx="899605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latin typeface="Arial" panose="020B0604020202020204" pitchFamily="34" charset="0"/>
                <a:cs typeface="Arial" panose="020B0604020202020204" pitchFamily="34" charset="0"/>
              </a:rPr>
              <a:t>Сетевая диаграмма этапов внедрения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36959263-CD07-F329-C010-99ACE288A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717" y="1996383"/>
            <a:ext cx="6806566" cy="2865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980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0C1680B2-655A-408B-88E4-C766C816D82B}"/>
              </a:ext>
            </a:extLst>
          </p:cNvPr>
          <p:cNvSpPr/>
          <p:nvPr/>
        </p:nvSpPr>
        <p:spPr>
          <a:xfrm>
            <a:off x="179513" y="132404"/>
            <a:ext cx="1189818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b="1" dirty="0">
                <a:latin typeface="Arial" panose="020B0604020202020204" pitchFamily="34" charset="0"/>
                <a:cs typeface="Arial" panose="020B0604020202020204" pitchFamily="34" charset="0"/>
              </a:rPr>
              <a:t>Временная диаграмма длительности этапов внедрения информационной системы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6ACF5E46-20E4-8A3B-7EFC-53C6AA962A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1914" y="2231831"/>
            <a:ext cx="6948171" cy="2566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871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952A6E1D-F861-DC56-BF14-113FC87A71C5}"/>
              </a:ext>
            </a:extLst>
          </p:cNvPr>
          <p:cNvSpPr/>
          <p:nvPr/>
        </p:nvSpPr>
        <p:spPr>
          <a:xfrm>
            <a:off x="179512" y="132404"/>
            <a:ext cx="1186961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b="1" dirty="0">
                <a:latin typeface="Arial" panose="020B0604020202020204" pitchFamily="34" charset="0"/>
                <a:cs typeface="Arial" panose="020B0604020202020204" pitchFamily="34" charset="0"/>
              </a:rPr>
              <a:t>Установка и настройка программного обеспечения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A47D2687-9BC8-A2F4-21BA-84D3DDC6B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895984"/>
            <a:ext cx="3829050" cy="293687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617E573F-C3B2-0DB6-95D9-B8F479447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5587" y="895984"/>
            <a:ext cx="3790315" cy="283400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C3CFD1BF-751B-9564-D177-F9BE399868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3539" y="895984"/>
            <a:ext cx="4085586" cy="31623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E1D35777-1073-866F-E39C-4B493CB973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0754" y="3956458"/>
            <a:ext cx="3470491" cy="2682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852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xmlns="" id="{3BCB35F2-5B45-1492-BFB2-D12186F2112B}"/>
              </a:ext>
            </a:extLst>
          </p:cNvPr>
          <p:cNvSpPr/>
          <p:nvPr/>
        </p:nvSpPr>
        <p:spPr>
          <a:xfrm>
            <a:off x="179512" y="132404"/>
            <a:ext cx="980358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latin typeface="Arial" panose="020B0604020202020204" pitchFamily="34" charset="0"/>
                <a:cs typeface="Arial" panose="020B0604020202020204" pitchFamily="34" charset="0"/>
              </a:rPr>
              <a:t>Разработанная информационная система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19C81435-7000-7FE7-D52E-D94B35C62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3" y="959709"/>
            <a:ext cx="5096046" cy="26502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xmlns="" id="{CC025FA5-029D-A8CA-3E57-5843DA2A59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187" y="959710"/>
            <a:ext cx="5106281" cy="2650263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xmlns="" id="{CC07D1F5-020A-A4E0-3FDB-987C66E5D6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6185" y="3747598"/>
            <a:ext cx="5106279" cy="2650263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B78434C9-C0DB-FD26-4CE5-9278E4A8E6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747599"/>
            <a:ext cx="5096049" cy="2650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82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2D6F487F-E776-B7E4-A3FB-D9555F770F94}"/>
              </a:ext>
            </a:extLst>
          </p:cNvPr>
          <p:cNvSpPr/>
          <p:nvPr/>
        </p:nvSpPr>
        <p:spPr>
          <a:xfrm>
            <a:off x="179512" y="132404"/>
            <a:ext cx="980358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latin typeface="Arial" panose="020B0604020202020204" pitchFamily="34" charset="0"/>
                <a:cs typeface="Arial" panose="020B0604020202020204" pitchFamily="34" charset="0"/>
              </a:rPr>
              <a:t>Разработанная информационная система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049CF6A1-7430-3AF4-6945-8352F2E5E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287" y="951309"/>
            <a:ext cx="6400800" cy="322541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708D3EA2-69F9-EDED-A113-5C65353B83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3525" y="3198946"/>
            <a:ext cx="6516430" cy="3287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707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0C502281-E76C-6BE5-E1E7-7B1F17962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9989" y="2352357"/>
            <a:ext cx="7728199" cy="4143693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xmlns="" id="{5DE26121-6AA0-CE2B-76BF-185D9781C0EB}"/>
              </a:ext>
            </a:extLst>
          </p:cNvPr>
          <p:cNvSpPr/>
          <p:nvPr/>
        </p:nvSpPr>
        <p:spPr>
          <a:xfrm>
            <a:off x="179513" y="132404"/>
            <a:ext cx="118696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b="1" dirty="0">
                <a:latin typeface="Arial" panose="020B0604020202020204" pitchFamily="34" charset="0"/>
                <a:cs typeface="Arial" panose="020B0604020202020204" pitchFamily="34" charset="0"/>
              </a:rPr>
              <a:t>Разработанная система поддержки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xmlns="" id="{29C345E4-8604-C7DD-EAD0-66A5D6FF16C2}"/>
              </a:ext>
            </a:extLst>
          </p:cNvPr>
          <p:cNvSpPr/>
          <p:nvPr/>
        </p:nvSpPr>
        <p:spPr>
          <a:xfrm>
            <a:off x="119696" y="921780"/>
            <a:ext cx="11989246" cy="1287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spcAft>
                <a:spcPts val="0"/>
              </a:spcAft>
            </a:pPr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Для обеспечения поддержки пользователей при использовании информационной системы был разработан и интегрирован специальный </a:t>
            </a:r>
            <a:r>
              <a:rPr lang="ru-RU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Telegram</a:t>
            </a:r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чат-бот. Он предоставляет возможность задавать вопросы о работе с системой и получать оперативные ответы.</a:t>
            </a:r>
          </a:p>
        </p:txBody>
      </p:sp>
    </p:spTree>
    <p:extLst>
      <p:ext uri="{BB962C8B-B14F-4D97-AF65-F5344CB8AC3E}">
        <p14:creationId xmlns:p14="http://schemas.microsoft.com/office/powerpoint/2010/main" val="3813111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482A4388-5268-6947-90F5-48D66B94181E}"/>
              </a:ext>
            </a:extLst>
          </p:cNvPr>
          <p:cNvSpPr/>
          <p:nvPr/>
        </p:nvSpPr>
        <p:spPr>
          <a:xfrm>
            <a:off x="179512" y="132404"/>
            <a:ext cx="1186961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b="1" dirty="0">
                <a:latin typeface="Arial" panose="020B0604020202020204" pitchFamily="34" charset="0"/>
                <a:cs typeface="Arial" panose="020B0604020202020204" pitchFamily="34" charset="0"/>
              </a:rPr>
              <a:t>Обеспечение внутренней защиты информационной системы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680E0377-04E2-5EE5-945A-F405384F05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2018533"/>
            <a:ext cx="5905500" cy="31420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E665E4A6-E2B3-1262-F19F-AD633D873585}"/>
              </a:ext>
            </a:extLst>
          </p:cNvPr>
          <p:cNvSpPr txBox="1"/>
          <p:nvPr/>
        </p:nvSpPr>
        <p:spPr>
          <a:xfrm>
            <a:off x="285750" y="5265369"/>
            <a:ext cx="5905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Аутентификация пользователей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xmlns="" id="{798D5A56-91B4-EAA4-2142-9D34D44AA7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7892" y="2018533"/>
            <a:ext cx="5497408" cy="314206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8EF7F100-66A9-2603-65C7-F771BF260E69}"/>
              </a:ext>
            </a:extLst>
          </p:cNvPr>
          <p:cNvSpPr txBox="1"/>
          <p:nvPr/>
        </p:nvSpPr>
        <p:spPr>
          <a:xfrm>
            <a:off x="6427892" y="5265369"/>
            <a:ext cx="54974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Журнал регистрации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2458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xmlns="" id="{3BB28557-414C-CB79-D0B3-5C3FF4B6979C}"/>
              </a:ext>
            </a:extLst>
          </p:cNvPr>
          <p:cNvSpPr/>
          <p:nvPr/>
        </p:nvSpPr>
        <p:spPr>
          <a:xfrm>
            <a:off x="179512" y="132404"/>
            <a:ext cx="1186961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b="1" dirty="0">
                <a:latin typeface="Arial" panose="020B0604020202020204" pitchFamily="34" charset="0"/>
                <a:cs typeface="Arial" panose="020B0604020202020204" pitchFamily="34" charset="0"/>
              </a:rPr>
              <a:t>Обеспечение внешней защиты информационной системы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635AA41E-427F-CCCA-283A-477B87990AA5}"/>
              </a:ext>
            </a:extLst>
          </p:cNvPr>
          <p:cNvSpPr/>
          <p:nvPr/>
        </p:nvSpPr>
        <p:spPr>
          <a:xfrm>
            <a:off x="119695" y="1332733"/>
            <a:ext cx="11989246" cy="1287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spcAft>
                <a:spcPts val="0"/>
              </a:spcAft>
            </a:pPr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Для обеспечения внешней безопасности пользователей на компьютер была установлена антивирусная программа Kaspersky Anti-</a:t>
            </a:r>
            <a:r>
              <a:rPr lang="ru-RU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virus</a:t>
            </a:r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призванная защищать от различных вирусов, троянских программ и других вредоносных программ.</a:t>
            </a:r>
          </a:p>
        </p:txBody>
      </p:sp>
      <p:pic>
        <p:nvPicPr>
          <p:cNvPr id="8" name="Рисунок 7" descr="Изображение выглядит как текст, снимок экрана, программное обеспечение, веб-страница&#10;&#10;Автоматически созданное описание">
            <a:extLst>
              <a:ext uri="{FF2B5EF4-FFF2-40B4-BE49-F238E27FC236}">
                <a16:creationId xmlns:a16="http://schemas.microsoft.com/office/drawing/2014/main" xmlns="" id="{219FB2E4-8E10-3DB8-5839-FD8F66C1A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753" y="2838132"/>
            <a:ext cx="2800985" cy="264033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xmlns="" id="{940AE5E2-56DC-328A-7773-68FBFF7124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7564" y="2838132"/>
            <a:ext cx="2633345" cy="2458085"/>
          </a:xfrm>
          <a:prstGeom prst="rect">
            <a:avLst/>
          </a:prstGeom>
        </p:spPr>
      </p:pic>
      <p:pic>
        <p:nvPicPr>
          <p:cNvPr id="10" name="Рисунок 9" descr="Изображение выглядит как текст, снимок экрана, программное обеспечение, веб-страница&#10;&#10;Автоматически созданное описание">
            <a:extLst>
              <a:ext uri="{FF2B5EF4-FFF2-40B4-BE49-F238E27FC236}">
                <a16:creationId xmlns:a16="http://schemas.microsoft.com/office/drawing/2014/main" xmlns="" id="{D2F63814-8A95-BC84-811A-41E387C583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3966" y="2841122"/>
            <a:ext cx="2880360" cy="268414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xmlns="" id="{C971688A-795D-2AC6-E9EA-2D548A37CE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3267" y="2838132"/>
            <a:ext cx="2301240" cy="1706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446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C4278B68-4C6E-370E-3A06-6DB261152DD4}"/>
              </a:ext>
            </a:extLst>
          </p:cNvPr>
          <p:cNvSpPr/>
          <p:nvPr/>
        </p:nvSpPr>
        <p:spPr>
          <a:xfrm>
            <a:off x="179512" y="132404"/>
            <a:ext cx="297959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latin typeface="Arial" panose="020B0604020202020204" pitchFamily="34" charset="0"/>
                <a:cs typeface="Arial" panose="020B0604020202020204" pitchFamily="34" charset="0"/>
              </a:rPr>
              <a:t>Заключение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xmlns="" id="{376AE534-0713-30CF-896D-3C05EA78E437}"/>
              </a:ext>
            </a:extLst>
          </p:cNvPr>
          <p:cNvSpPr/>
          <p:nvPr/>
        </p:nvSpPr>
        <p:spPr>
          <a:xfrm>
            <a:off x="107504" y="778735"/>
            <a:ext cx="12084496" cy="4196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</a:pPr>
            <a:r>
              <a:rPr lang="ru-RU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В результате учебной практики была установлена и настроена программа 1С:Предприятие, а также проведен анализ предметной области. В результате была спроектирована и разработана информационная система для «ООО </a:t>
            </a:r>
            <a:r>
              <a:rPr lang="ru-RU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Строймаг</a:t>
            </a:r>
            <a:r>
              <a:rPr lang="ru-RU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», реализованная в данной платформе. Кроме того, были приняты меры по обеспечению безопасности информационной системы от внутренних и внешних угроз.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Для защиты от внешних угроз на компьютер была установлена антивирусная программа Kaspersky. Кроме того, была разработана необходимая документация, включая техническое задание, руководство оператора и руководство системного администратора.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Цели учебной практики были успешно достигнуты благодаря установке и настройке 1С:Предприятия, проведению анализа предметной области, а также проектированию и разработке информационной системы. Это позволяет сделать вывод о полном выполнении поставленных целей и задач учебной практики.</a:t>
            </a:r>
          </a:p>
        </p:txBody>
      </p:sp>
    </p:spTree>
    <p:extLst>
      <p:ext uri="{BB962C8B-B14F-4D97-AF65-F5344CB8AC3E}">
        <p14:creationId xmlns:p14="http://schemas.microsoft.com/office/powerpoint/2010/main" val="1298956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Сектор">
  <a:themeElements>
    <a:clrScheme name="Базовая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Сектор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ектор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142000"/>
                <a:satMod val="200000"/>
                <a:lumMod val="118000"/>
              </a:schemeClr>
            </a:gs>
            <a:gs pos="100000">
              <a:schemeClr val="phClr">
                <a:shade val="94000"/>
                <a:hueMod val="22000"/>
                <a:satMod val="220000"/>
                <a:lumMod val="62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142000"/>
                <a:satMod val="200000"/>
                <a:lumMod val="118000"/>
              </a:schemeClr>
            </a:gs>
            <a:gs pos="100000">
              <a:schemeClr val="phClr">
                <a:shade val="92000"/>
                <a:hueMod val="22000"/>
                <a:satMod val="220000"/>
                <a:lumMod val="62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Slice" id="{0507925B-6AC9-4358-8E18-C330545D08F8}" vid="{2903AAAE-3EA5-424A-B142-CC51DC1F897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172</TotalTime>
  <Words>547</Words>
  <Application>Microsoft Office PowerPoint</Application>
  <PresentationFormat>Произвольный</PresentationFormat>
  <Paragraphs>46</Paragraphs>
  <Slides>15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6" baseType="lpstr">
      <vt:lpstr>Сектор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Il Iv</dc:creator>
  <cp:lastModifiedBy>Иванченко_ИВ</cp:lastModifiedBy>
  <cp:revision>16</cp:revision>
  <dcterms:created xsi:type="dcterms:W3CDTF">2024-10-25T14:18:00Z</dcterms:created>
  <dcterms:modified xsi:type="dcterms:W3CDTF">2024-10-26T01:34:07Z</dcterms:modified>
</cp:coreProperties>
</file>