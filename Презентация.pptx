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6" r:id="rId1"/>
  </p:sldMasterIdLst>
  <p:sldIdLst>
    <p:sldId id="265" r:id="rId2"/>
    <p:sldId id="257" r:id="rId3"/>
    <p:sldId id="258" r:id="rId4"/>
    <p:sldId id="259" r:id="rId5"/>
    <p:sldId id="260" r:id="rId6"/>
    <p:sldId id="261" r:id="rId7"/>
    <p:sldId id="262" r:id="rId8"/>
    <p:sldId id="266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6F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00" d="100"/>
          <a:sy n="200" d="100"/>
        </p:scale>
        <p:origin x="156" y="-2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431A6-3FE9-455B-9B55-C8F80A0E1AFA}" type="datetimeFigureOut">
              <a:rPr lang="ru-RU" smtClean="0"/>
              <a:t>27.06.2024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0CA71F5-8986-47B1-A279-18C4EAF4AB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86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431A6-3FE9-455B-9B55-C8F80A0E1AFA}" type="datetimeFigureOut">
              <a:rPr lang="ru-RU" smtClean="0"/>
              <a:t>27.06.2024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A71F5-8986-47B1-A279-18C4EAF4AB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9961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431A6-3FE9-455B-9B55-C8F80A0E1AFA}" type="datetimeFigureOut">
              <a:rPr lang="ru-RU" smtClean="0"/>
              <a:t>27.06.2024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0CA71F5-8986-47B1-A279-18C4EAF4AB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9338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431A6-3FE9-455B-9B55-C8F80A0E1AFA}" type="datetimeFigureOut">
              <a:rPr lang="ru-RU" smtClean="0"/>
              <a:t>27.06.2024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0CA71F5-8986-47B1-A279-18C4EAF4AB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977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431A6-3FE9-455B-9B55-C8F80A0E1AFA}" type="datetimeFigureOut">
              <a:rPr lang="ru-RU" smtClean="0"/>
              <a:t>27.06.2024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0CA71F5-8986-47B1-A279-18C4EAF4AB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766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431A6-3FE9-455B-9B55-C8F80A0E1AFA}" type="datetimeFigureOut">
              <a:rPr lang="ru-RU" smtClean="0"/>
              <a:t>27.06.2024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A71F5-8986-47B1-A279-18C4EAF4AB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9121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431A6-3FE9-455B-9B55-C8F80A0E1AFA}" type="datetimeFigureOut">
              <a:rPr lang="ru-RU" smtClean="0"/>
              <a:t>27.06.2024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A71F5-8986-47B1-A279-18C4EAF4AB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7598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431A6-3FE9-455B-9B55-C8F80A0E1AFA}" type="datetimeFigureOut">
              <a:rPr lang="ru-RU" smtClean="0"/>
              <a:t>27.06.2024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A71F5-8986-47B1-A279-18C4EAF4AB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1846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431A6-3FE9-455B-9B55-C8F80A0E1AFA}" type="datetimeFigureOut">
              <a:rPr lang="ru-RU" smtClean="0"/>
              <a:t>27.06.2024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0CA71F5-8986-47B1-A279-18C4EAF4AB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2559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431A6-3FE9-455B-9B55-C8F80A0E1AFA}" type="datetimeFigureOut">
              <a:rPr lang="ru-RU" smtClean="0"/>
              <a:t>27.06.2024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0CA71F5-8986-47B1-A279-18C4EAF4AB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8193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431A6-3FE9-455B-9B55-C8F80A0E1AFA}" type="datetimeFigureOut">
              <a:rPr lang="ru-RU" smtClean="0"/>
              <a:t>27.06.2024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0CA71F5-8986-47B1-A279-18C4EAF4ABA2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14418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431A6-3FE9-455B-9B55-C8F80A0E1AFA}" type="datetimeFigureOut">
              <a:rPr lang="ru-RU" smtClean="0"/>
              <a:t>27.06.2024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0CA71F5-8986-47B1-A279-18C4EAF4AB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98520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431A6-3FE9-455B-9B55-C8F80A0E1AFA}" type="datetimeFigureOut">
              <a:rPr lang="ru-RU" smtClean="0"/>
              <a:t>27.06.2024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0CA71F5-8986-47B1-A279-18C4EAF4ABA2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33803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431A6-3FE9-455B-9B55-C8F80A0E1AFA}" type="datetimeFigureOut">
              <a:rPr lang="ru-RU" smtClean="0"/>
              <a:t>27.06.2024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0CA71F5-8986-47B1-A279-18C4EAF4AB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70930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431A6-3FE9-455B-9B55-C8F80A0E1AFA}" type="datetimeFigureOut">
              <a:rPr lang="ru-RU" smtClean="0"/>
              <a:t>27.06.2024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A71F5-8986-47B1-A279-18C4EAF4AB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37632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431A6-3FE9-455B-9B55-C8F80A0E1AFA}" type="datetimeFigureOut">
              <a:rPr lang="ru-RU" smtClean="0"/>
              <a:t>27.06.2024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A71F5-8986-47B1-A279-18C4EAF4AB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5443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0431A6-3FE9-455B-9B55-C8F80A0E1AFA}" type="datetimeFigureOut">
              <a:rPr lang="ru-RU" smtClean="0"/>
              <a:t>27.06.2024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0CA71F5-8986-47B1-A279-18C4EAF4AB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3533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7" r:id="rId1"/>
    <p:sldLayoutId id="2147483968" r:id="rId2"/>
    <p:sldLayoutId id="2147483969" r:id="rId3"/>
    <p:sldLayoutId id="2147483970" r:id="rId4"/>
    <p:sldLayoutId id="2147483971" r:id="rId5"/>
    <p:sldLayoutId id="2147483972" r:id="rId6"/>
    <p:sldLayoutId id="2147483973" r:id="rId7"/>
    <p:sldLayoutId id="2147483974" r:id="rId8"/>
    <p:sldLayoutId id="2147483975" r:id="rId9"/>
    <p:sldLayoutId id="2147483976" r:id="rId10"/>
    <p:sldLayoutId id="2147483977" r:id="rId11"/>
    <p:sldLayoutId id="2147483978" r:id="rId12"/>
    <p:sldLayoutId id="2147483979" r:id="rId13"/>
    <p:sldLayoutId id="2147483980" r:id="rId14"/>
    <p:sldLayoutId id="2147483981" r:id="rId15"/>
    <p:sldLayoutId id="214748398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PET138/ISPP-5/tree/%D0%91%D1%83%D0%B9%D0%BB%D0%BE%D0%B2-M.A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A48F69C-E8B7-0903-C674-17392B27E87A}"/>
              </a:ext>
            </a:extLst>
          </p:cNvPr>
          <p:cNvSpPr/>
          <p:nvPr/>
        </p:nvSpPr>
        <p:spPr>
          <a:xfrm>
            <a:off x="2378640" y="326614"/>
            <a:ext cx="7434377" cy="73866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МИНИСТЕРСТВО ОБРАЗОВАНИЯ ИРКУТСКОЙ ОБЛАСТИ</a:t>
            </a:r>
          </a:p>
          <a:p>
            <a:pPr algn="ctr"/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 Государственное бюджетное профессиональное образовательное учреждение Иркутской области «Ангарский промышленно – экономический техникум»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1CC6C3F-6A3A-45F7-2AC2-80559F2BEB48}"/>
              </a:ext>
            </a:extLst>
          </p:cNvPr>
          <p:cNvSpPr/>
          <p:nvPr/>
        </p:nvSpPr>
        <p:spPr>
          <a:xfrm>
            <a:off x="2378639" y="1273265"/>
            <a:ext cx="7434377" cy="129266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ОТЧЁТ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по практической подготовке в виде производственной практике профессионального модуля (ПМ.01) Разработка модулей программного обеспечения для компьютерных систем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DE1065D-F2E3-D665-9907-75C89A23FEE8}"/>
              </a:ext>
            </a:extLst>
          </p:cNvPr>
          <p:cNvSpPr/>
          <p:nvPr/>
        </p:nvSpPr>
        <p:spPr>
          <a:xfrm>
            <a:off x="1866727" y="3001376"/>
            <a:ext cx="8458200" cy="87203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ru-RU" i="1" dirty="0">
                <a:latin typeface="Arial" panose="020B0604020202020204" pitchFamily="34" charset="0"/>
                <a:cs typeface="Arial" panose="020B0604020202020204" pitchFamily="34" charset="0"/>
              </a:rPr>
              <a:t>по специальности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09.02.07 Информационные системы и программирование</a:t>
            </a:r>
          </a:p>
          <a:p>
            <a:pPr algn="just">
              <a:lnSpc>
                <a:spcPct val="150000"/>
              </a:lnSpc>
            </a:pPr>
            <a:r>
              <a:rPr lang="ru-RU" i="1" dirty="0">
                <a:latin typeface="Arial" panose="020B0604020202020204" pitchFamily="34" charset="0"/>
                <a:cs typeface="Arial" panose="020B0604020202020204" pitchFamily="34" charset="0"/>
              </a:rPr>
              <a:t>обучающегося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3 курса </a:t>
            </a:r>
            <a:r>
              <a:rPr lang="ru-RU" i="1" dirty="0">
                <a:latin typeface="Arial" panose="020B0604020202020204" pitchFamily="34" charset="0"/>
                <a:cs typeface="Arial" panose="020B0604020202020204" pitchFamily="34" charset="0"/>
              </a:rPr>
              <a:t>группы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ИСПП-5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4C6462B-2D04-5FAE-048A-CAE5E371679E}"/>
              </a:ext>
            </a:extLst>
          </p:cNvPr>
          <p:cNvSpPr/>
          <p:nvPr/>
        </p:nvSpPr>
        <p:spPr>
          <a:xfrm>
            <a:off x="1194902" y="4091836"/>
            <a:ext cx="9801850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Буйлова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Михаила Алексеевича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8F218F0E-980D-EBBA-3B07-4ED6AC236F92}"/>
              </a:ext>
            </a:extLst>
          </p:cNvPr>
          <p:cNvCxnSpPr>
            <a:cxnSpLocks/>
          </p:cNvCxnSpPr>
          <p:nvPr/>
        </p:nvCxnSpPr>
        <p:spPr>
          <a:xfrm flipH="1">
            <a:off x="2046083" y="4491946"/>
            <a:ext cx="808474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D7384A1-14E8-9D07-5AF3-279A60E783E8}"/>
              </a:ext>
            </a:extLst>
          </p:cNvPr>
          <p:cNvSpPr/>
          <p:nvPr/>
        </p:nvSpPr>
        <p:spPr>
          <a:xfrm>
            <a:off x="2488317" y="4701887"/>
            <a:ext cx="7215031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i="1" dirty="0">
                <a:latin typeface="Arial" panose="020B0604020202020204" pitchFamily="34" charset="0"/>
                <a:cs typeface="Arial" panose="020B0604020202020204" pitchFamily="34" charset="0"/>
              </a:rPr>
              <a:t>Руководитель практики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    Туркина Надежда Михайловна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D9FCB56-1305-CE40-E10D-39C37AB6B697}"/>
              </a:ext>
            </a:extLst>
          </p:cNvPr>
          <p:cNvSpPr/>
          <p:nvPr/>
        </p:nvSpPr>
        <p:spPr>
          <a:xfrm>
            <a:off x="4893874" y="5974504"/>
            <a:ext cx="2403911" cy="58477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г. Ангарск</a:t>
            </a:r>
          </a:p>
          <a:p>
            <a:pPr algn="ctr"/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2024 г.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38114619-9E19-CEE8-D298-71A585198E6A}"/>
              </a:ext>
            </a:extLst>
          </p:cNvPr>
          <p:cNvCxnSpPr>
            <a:cxnSpLocks/>
          </p:cNvCxnSpPr>
          <p:nvPr/>
        </p:nvCxnSpPr>
        <p:spPr>
          <a:xfrm flipH="1">
            <a:off x="5570807" y="5014947"/>
            <a:ext cx="352792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1293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8691597-FEB6-F52B-961E-E43326A2BD16}"/>
              </a:ext>
            </a:extLst>
          </p:cNvPr>
          <p:cNvSpPr/>
          <p:nvPr/>
        </p:nvSpPr>
        <p:spPr>
          <a:xfrm>
            <a:off x="961761" y="531092"/>
            <a:ext cx="743351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Цель </a:t>
            </a: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и задачи учебной практики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FD94B3D-9957-E925-4058-ACB17AA0D878}"/>
              </a:ext>
            </a:extLst>
          </p:cNvPr>
          <p:cNvSpPr/>
          <p:nvPr/>
        </p:nvSpPr>
        <p:spPr>
          <a:xfrm>
            <a:off x="798167" y="1290091"/>
            <a:ext cx="1059566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000" algn="just">
              <a:lnSpc>
                <a:spcPct val="150000"/>
              </a:lnSpc>
            </a:pPr>
            <a:r>
              <a:rPr lang="ru-RU" sz="2000" dirty="0">
                <a:latin typeface="Arial" panose="020B0604020202020204" pitchFamily="34" charset="0"/>
                <a:cs typeface="Arial" pitchFamily="34" charset="0"/>
              </a:rPr>
              <a:t>Целью является разработка </a:t>
            </a:r>
            <a:r>
              <a:rPr lang="ru-RU" sz="2000" dirty="0" smtClean="0">
                <a:latin typeface="Arial" panose="020B0604020202020204" pitchFamily="34" charset="0"/>
                <a:cs typeface="Arial" pitchFamily="34" charset="0"/>
              </a:rPr>
              <a:t>веб-сайт для расчета стоимости мобильной связи.</a:t>
            </a:r>
            <a:endParaRPr lang="ru-RU" sz="2000" dirty="0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6B6C078-1F14-AB70-4B13-5611B0C4D5AF}"/>
              </a:ext>
            </a:extLst>
          </p:cNvPr>
          <p:cNvSpPr/>
          <p:nvPr/>
        </p:nvSpPr>
        <p:spPr>
          <a:xfrm>
            <a:off x="798167" y="2553173"/>
            <a:ext cx="10595666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ru-RU" sz="2000" dirty="0">
                <a:latin typeface="Arial" pitchFamily="34" charset="0"/>
                <a:cs typeface="Arial" pitchFamily="34" charset="0"/>
              </a:rPr>
              <a:t>Основные задачи для разработки 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веб-сайта:</a:t>
            </a:r>
            <a:endParaRPr lang="ru-RU" sz="2000" dirty="0">
              <a:latin typeface="Arial" pitchFamily="34" charset="0"/>
              <a:cs typeface="Arial" pitchFamily="34" charset="0"/>
            </a:endParaRPr>
          </a:p>
          <a:p>
            <a:pPr lvl="0" indent="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 smtClean="0">
                <a:latin typeface="Arial" pitchFamily="34" charset="0"/>
                <a:cs typeface="Arial" pitchFamily="34" charset="0"/>
              </a:rPr>
              <a:t>Создать 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информационную систему, которая бы обеспечивала расчет мобильной 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связи;</a:t>
            </a:r>
            <a:endParaRPr lang="ru-RU" sz="2000" dirty="0">
              <a:latin typeface="Arial" pitchFamily="34" charset="0"/>
              <a:cs typeface="Arial" pitchFamily="34" charset="0"/>
            </a:endParaRPr>
          </a:p>
          <a:p>
            <a:pPr indent="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 smtClean="0">
                <a:latin typeface="Arial" pitchFamily="34" charset="0"/>
                <a:cs typeface="Arial" pitchFamily="34" charset="0"/>
              </a:rPr>
              <a:t>Реализовать 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программу в </a:t>
            </a: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Node</a:t>
            </a:r>
            <a:r>
              <a:rPr lang="ru-RU" sz="2000" dirty="0">
                <a:latin typeface="Arial" panose="020B0604020202020204" pitchFamily="34" charset="0"/>
                <a:cs typeface="Arial" pitchFamily="34" charset="0"/>
              </a:rPr>
              <a:t>.</a:t>
            </a:r>
            <a:r>
              <a:rPr lang="en-US" sz="2000" dirty="0" err="1">
                <a:latin typeface="Arial" panose="020B0604020202020204" pitchFamily="34" charset="0"/>
                <a:cs typeface="Arial" pitchFamily="34" charset="0"/>
              </a:rPr>
              <a:t>js</a:t>
            </a:r>
            <a:r>
              <a:rPr lang="ru-RU" sz="2000" dirty="0">
                <a:latin typeface="Arial" panose="020B0604020202020204" pitchFamily="34" charset="0"/>
                <a:cs typeface="Arial" pitchFamily="34" charset="0"/>
              </a:rPr>
              <a:t>, которая будет отправлять запрос в созданную УНФ на 1С и выводить ответ.</a:t>
            </a:r>
          </a:p>
        </p:txBody>
      </p:sp>
    </p:spTree>
    <p:extLst>
      <p:ext uri="{BB962C8B-B14F-4D97-AF65-F5344CB8AC3E}">
        <p14:creationId xmlns:p14="http://schemas.microsoft.com/office/powerpoint/2010/main" val="74431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85A984B-DC6A-803A-7431-4F5BE59C178A}"/>
              </a:ext>
            </a:extLst>
          </p:cNvPr>
          <p:cNvSpPr/>
          <p:nvPr/>
        </p:nvSpPr>
        <p:spPr>
          <a:xfrm>
            <a:off x="961761" y="531092"/>
            <a:ext cx="85152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Диаграмма </a:t>
            </a: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вариантов использования</a:t>
            </a:r>
          </a:p>
        </p:txBody>
      </p:sp>
      <p:pic>
        <p:nvPicPr>
          <p:cNvPr id="4" name="Рисунок 3" descr="C:\Users\ADMIN\AppData\Local\Packages\Microsoft.Windows.Photos_8wekyb3d8bbwe\TempState\ShareServiceTempFolder\Drawing.jpeg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33" t="16624" r="39400" b="56619"/>
          <a:stretch/>
        </p:blipFill>
        <p:spPr bwMode="auto">
          <a:xfrm>
            <a:off x="3477260" y="1461134"/>
            <a:ext cx="5241290" cy="439356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984369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72AEF4-CDD6-3110-047C-413FC8648787}"/>
              </a:ext>
            </a:extLst>
          </p:cNvPr>
          <p:cNvSpPr txBox="1"/>
          <p:nvPr/>
        </p:nvSpPr>
        <p:spPr>
          <a:xfrm>
            <a:off x="1044311" y="1638319"/>
            <a:ext cx="46067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Для начала была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создан сам веб-сайт в котором можно было вводить необходимые тарифы пользователю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EC7BF60-7FE4-DE04-3BB4-11EAAC9A7A55}"/>
              </a:ext>
            </a:extLst>
          </p:cNvPr>
          <p:cNvSpPr/>
          <p:nvPr/>
        </p:nvSpPr>
        <p:spPr>
          <a:xfrm>
            <a:off x="1327521" y="531092"/>
            <a:ext cx="49522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Разработка Веб-</a:t>
            </a:r>
            <a:r>
              <a:rPr lang="ru-RU" sz="3200" b="1" dirty="0">
                <a:latin typeface="Arial" panose="020B0604020202020204" pitchFamily="34" charset="0"/>
                <a:cs typeface="Arial" panose="020B0604020202020204" pitchFamily="34" charset="0"/>
              </a:rPr>
              <a:t>С</a:t>
            </a:r>
            <a:r>
              <a:rPr lang="ru-RU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айта</a:t>
            </a:r>
            <a:endParaRPr lang="ru-RU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Рисунок 5" descr="C:\Users\ADMIN\AppData\Local\Packages\Microsoft.Windows.Photos_8wekyb3d8bbwe\TempState\ShareServiceTempFolder\Desktop Screenshot 2024.06.27 - 05.27.24.58.jpeg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184"/>
          <a:stretch/>
        </p:blipFill>
        <p:spPr bwMode="auto">
          <a:xfrm>
            <a:off x="2075498" y="2909888"/>
            <a:ext cx="6196965" cy="358616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63730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B2D833-EF49-54E7-FB01-5DF401DC7920}"/>
              </a:ext>
            </a:extLst>
          </p:cNvPr>
          <p:cNvSpPr txBox="1"/>
          <p:nvPr/>
        </p:nvSpPr>
        <p:spPr>
          <a:xfrm>
            <a:off x="1773335" y="618486"/>
            <a:ext cx="97193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Далее с помощью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Visual Studio Code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был создан код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для расчетов стоимости мобильной связи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208" y="1326372"/>
            <a:ext cx="5201642" cy="499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815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4C5FEB-2E6E-D0D2-D622-93B922E764B0}"/>
              </a:ext>
            </a:extLst>
          </p:cNvPr>
          <p:cNvSpPr txBox="1"/>
          <p:nvPr/>
        </p:nvSpPr>
        <p:spPr>
          <a:xfrm>
            <a:off x="2077188" y="272050"/>
            <a:ext cx="47520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Далее был 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создан вывод расчета </a:t>
            </a:r>
            <a:r>
              <a:rPr lang="ru-RU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сотимости</a:t>
            </a:r>
            <a:r>
              <a:rPr lang="ru-RU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мобильной связи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355" y="1197201"/>
            <a:ext cx="7856329" cy="4169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850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75CF6F-9D7A-9112-92BC-243EC90E5346}"/>
              </a:ext>
            </a:extLst>
          </p:cNvPr>
          <p:cNvSpPr txBox="1"/>
          <p:nvPr/>
        </p:nvSpPr>
        <p:spPr>
          <a:xfrm>
            <a:off x="976187" y="1218401"/>
            <a:ext cx="10239626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0000" algn="just">
              <a:lnSpc>
                <a:spcPct val="150000"/>
              </a:lnSpc>
            </a:pPr>
            <a:r>
              <a:rPr lang="ru-RU" sz="2000" dirty="0">
                <a:latin typeface="Arial" pitchFamily="34" charset="0"/>
                <a:cs typeface="Arial" pitchFamily="34" charset="0"/>
              </a:rPr>
              <a:t>В результате практической подготовки в виде производственной практики был проведен анализ предметной области, спроектирована и разработано </a:t>
            </a:r>
            <a:r>
              <a:rPr lang="ru-RU" sz="2000" dirty="0" err="1">
                <a:latin typeface="Arial" pitchFamily="34" charset="0"/>
                <a:cs typeface="Arial" pitchFamily="34" charset="0"/>
              </a:rPr>
              <a:t>web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-приложение для расчета стоимости мобильной 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связи.</a:t>
            </a:r>
          </a:p>
          <a:p>
            <a:pPr indent="450000" algn="just">
              <a:lnSpc>
                <a:spcPct val="150000"/>
              </a:lnSpc>
            </a:pPr>
            <a:r>
              <a:rPr lang="ru-RU" sz="2000" dirty="0" smtClean="0">
                <a:latin typeface="Arial" pitchFamily="34" charset="0"/>
                <a:cs typeface="Arial" pitchFamily="34" charset="0"/>
              </a:rPr>
              <a:t>Это </a:t>
            </a:r>
            <a:r>
              <a:rPr lang="ru-RU" sz="2000" dirty="0">
                <a:latin typeface="Arial" pitchFamily="34" charset="0"/>
                <a:cs typeface="Arial" pitchFamily="34" charset="0"/>
              </a:rPr>
              <a:t>позволяет сделать вывод, что поставленные цели и задачи выполнены в полном объеме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.</a:t>
            </a:r>
            <a:endParaRPr lang="ru-RU" sz="2000" dirty="0">
              <a:latin typeface="Arial" panose="020B0604020202020204" pitchFamily="34" charset="0"/>
              <a:cs typeface="Arial" pitchFamily="34" charset="0"/>
            </a:endParaRPr>
          </a:p>
          <a:p>
            <a:pPr indent="450000"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  <a:p>
            <a:pPr indent="450000" algn="just">
              <a:lnSpc>
                <a:spcPct val="150000"/>
              </a:lnSpc>
            </a:pPr>
            <a:r>
              <a:rPr lang="ru-RU" sz="2000" dirty="0">
                <a:latin typeface="Arial" panose="020B0604020202020204" pitchFamily="34" charset="0"/>
                <a:cs typeface="Arial" pitchFamily="34" charset="0"/>
              </a:rPr>
              <a:t>Проект находится по ссылке</a:t>
            </a:r>
            <a:r>
              <a:rPr lang="en-US" sz="2000" dirty="0" smtClean="0">
                <a:latin typeface="Arial" panose="020B0604020202020204" pitchFamily="34" charset="0"/>
                <a:cs typeface="Arial" pitchFamily="34" charset="0"/>
              </a:rPr>
              <a:t>:</a:t>
            </a:r>
            <a:r>
              <a:rPr lang="ru-RU" sz="2000" dirty="0" smtClean="0"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US" sz="2000" dirty="0" smtClean="0">
                <a:latin typeface="Arial" panose="020B0604020202020204" pitchFamily="34" charset="0"/>
                <a:cs typeface="Arial" pitchFamily="34" charset="0"/>
                <a:hlinkClick r:id="rId2"/>
              </a:rPr>
              <a:t>https</a:t>
            </a:r>
            <a:r>
              <a:rPr lang="en-US" sz="2000" dirty="0">
                <a:latin typeface="Arial" panose="020B0604020202020204" pitchFamily="34" charset="0"/>
                <a:cs typeface="Arial" pitchFamily="34" charset="0"/>
                <a:hlinkClick r:id="rId2"/>
              </a:rPr>
              <a:t>://github.com/APET138</a:t>
            </a:r>
            <a:r>
              <a:rPr lang="en-US" sz="2000" dirty="0" smtClean="0">
                <a:latin typeface="Arial" panose="020B0604020202020204" pitchFamily="34" charset="0"/>
                <a:cs typeface="Arial" pitchFamily="34" charset="0"/>
                <a:hlinkClick r:id="rId2"/>
              </a:rPr>
              <a:t>/</a:t>
            </a:r>
            <a:endParaRPr lang="ru-RU" sz="2000" dirty="0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187A3CF-2B70-E00A-2ECE-3494AD8F1185}"/>
              </a:ext>
            </a:extLst>
          </p:cNvPr>
          <p:cNvSpPr/>
          <p:nvPr/>
        </p:nvSpPr>
        <p:spPr>
          <a:xfrm>
            <a:off x="961761" y="531092"/>
            <a:ext cx="323896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Заключение</a:t>
            </a:r>
            <a:endParaRPr lang="ru-RU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4338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A48F69C-E8B7-0903-C674-17392B27E87A}"/>
              </a:ext>
            </a:extLst>
          </p:cNvPr>
          <p:cNvSpPr/>
          <p:nvPr/>
        </p:nvSpPr>
        <p:spPr>
          <a:xfrm>
            <a:off x="2378640" y="326614"/>
            <a:ext cx="7434377" cy="73866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МИНИСТЕРСТВО ОБРАЗОВАНИЯ ИРКУТСКОЙ ОБЛАСТИ</a:t>
            </a:r>
          </a:p>
          <a:p>
            <a:pPr algn="ctr"/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 Государственное бюджетное профессиональное образовательное учреждение Иркутской области «Ангарский промышленно – экономический техникум»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1CC6C3F-6A3A-45F7-2AC2-80559F2BEB48}"/>
              </a:ext>
            </a:extLst>
          </p:cNvPr>
          <p:cNvSpPr/>
          <p:nvPr/>
        </p:nvSpPr>
        <p:spPr>
          <a:xfrm>
            <a:off x="2378639" y="1273265"/>
            <a:ext cx="7434377" cy="129266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ОТЧЁТ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по практической подготовке в виде производственной практике профессионального модуля (ПМ.01) Разработка модулей программного обеспечения для компьютерных систем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DE1065D-F2E3-D665-9907-75C89A23FEE8}"/>
              </a:ext>
            </a:extLst>
          </p:cNvPr>
          <p:cNvSpPr/>
          <p:nvPr/>
        </p:nvSpPr>
        <p:spPr>
          <a:xfrm>
            <a:off x="1866727" y="3001376"/>
            <a:ext cx="8458200" cy="87203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ru-RU" i="1" dirty="0">
                <a:latin typeface="Arial" panose="020B0604020202020204" pitchFamily="34" charset="0"/>
                <a:cs typeface="Arial" panose="020B0604020202020204" pitchFamily="34" charset="0"/>
              </a:rPr>
              <a:t>по специальности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09.02.07 Информационные системы и программирование</a:t>
            </a:r>
          </a:p>
          <a:p>
            <a:pPr algn="just">
              <a:lnSpc>
                <a:spcPct val="150000"/>
              </a:lnSpc>
            </a:pPr>
            <a:r>
              <a:rPr lang="ru-RU" i="1" dirty="0">
                <a:latin typeface="Arial" panose="020B0604020202020204" pitchFamily="34" charset="0"/>
                <a:cs typeface="Arial" panose="020B0604020202020204" pitchFamily="34" charset="0"/>
              </a:rPr>
              <a:t>обучающегося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3 курса </a:t>
            </a:r>
            <a:r>
              <a:rPr lang="ru-RU" i="1" dirty="0">
                <a:latin typeface="Arial" panose="020B0604020202020204" pitchFamily="34" charset="0"/>
                <a:cs typeface="Arial" panose="020B0604020202020204" pitchFamily="34" charset="0"/>
              </a:rPr>
              <a:t>группы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ИСПП-5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4C6462B-2D04-5FAE-048A-CAE5E371679E}"/>
              </a:ext>
            </a:extLst>
          </p:cNvPr>
          <p:cNvSpPr/>
          <p:nvPr/>
        </p:nvSpPr>
        <p:spPr>
          <a:xfrm>
            <a:off x="1194902" y="4091836"/>
            <a:ext cx="9801850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Буйлова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Михаила Алексеевича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8F218F0E-980D-EBBA-3B07-4ED6AC236F92}"/>
              </a:ext>
            </a:extLst>
          </p:cNvPr>
          <p:cNvCxnSpPr>
            <a:cxnSpLocks/>
          </p:cNvCxnSpPr>
          <p:nvPr/>
        </p:nvCxnSpPr>
        <p:spPr>
          <a:xfrm flipH="1">
            <a:off x="2046083" y="4491946"/>
            <a:ext cx="808474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D7384A1-14E8-9D07-5AF3-279A60E783E8}"/>
              </a:ext>
            </a:extLst>
          </p:cNvPr>
          <p:cNvSpPr/>
          <p:nvPr/>
        </p:nvSpPr>
        <p:spPr>
          <a:xfrm>
            <a:off x="2488317" y="4701887"/>
            <a:ext cx="7215031" cy="36933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i="1" dirty="0">
                <a:latin typeface="Arial" panose="020B0604020202020204" pitchFamily="34" charset="0"/>
                <a:cs typeface="Arial" panose="020B0604020202020204" pitchFamily="34" charset="0"/>
              </a:rPr>
              <a:t>Руководитель практики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    Туркина Надежда Михайловна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D9FCB56-1305-CE40-E10D-39C37AB6B697}"/>
              </a:ext>
            </a:extLst>
          </p:cNvPr>
          <p:cNvSpPr/>
          <p:nvPr/>
        </p:nvSpPr>
        <p:spPr>
          <a:xfrm>
            <a:off x="4893874" y="5974504"/>
            <a:ext cx="2403911" cy="58477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г. Ангарск</a:t>
            </a:r>
          </a:p>
          <a:p>
            <a:pPr algn="ctr"/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2024 г.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38114619-9E19-CEE8-D298-71A585198E6A}"/>
              </a:ext>
            </a:extLst>
          </p:cNvPr>
          <p:cNvCxnSpPr>
            <a:cxnSpLocks/>
          </p:cNvCxnSpPr>
          <p:nvPr/>
        </p:nvCxnSpPr>
        <p:spPr>
          <a:xfrm flipH="1">
            <a:off x="5570807" y="5014947"/>
            <a:ext cx="352792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1251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59</TotalTime>
  <Words>278</Words>
  <Application>Microsoft Office PowerPoint</Application>
  <PresentationFormat>Широкоэкранный</PresentationFormat>
  <Paragraphs>35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Легкий дым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Владимир</dc:creator>
  <cp:lastModifiedBy>ADMIN</cp:lastModifiedBy>
  <cp:revision>75</cp:revision>
  <dcterms:created xsi:type="dcterms:W3CDTF">2024-06-26T17:38:46Z</dcterms:created>
  <dcterms:modified xsi:type="dcterms:W3CDTF">2024-06-27T00:35:56Z</dcterms:modified>
</cp:coreProperties>
</file>