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66" r:id="rId1"/>
  </p:sldMasterIdLst>
  <p:sldIdLst>
    <p:sldId id="265" r:id="rId2"/>
    <p:sldId id="257" r:id="rId3"/>
    <p:sldId id="258" r:id="rId4"/>
    <p:sldId id="259" r:id="rId5"/>
    <p:sldId id="260" r:id="rId6"/>
    <p:sldId id="261" r:id="rId7"/>
    <p:sldId id="262" r:id="rId8"/>
    <p:sldId id="266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6F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576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431A6-3FE9-455B-9B55-C8F80A0E1AFA}" type="datetimeFigureOut">
              <a:rPr lang="ru-RU" smtClean="0"/>
              <a:t>27.06.2024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50CA71F5-8986-47B1-A279-18C4EAF4AB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860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431A6-3FE9-455B-9B55-C8F80A0E1AFA}" type="datetimeFigureOut">
              <a:rPr lang="ru-RU" smtClean="0"/>
              <a:t>27.06.2024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A71F5-8986-47B1-A279-18C4EAF4AB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99611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431A6-3FE9-455B-9B55-C8F80A0E1AFA}" type="datetimeFigureOut">
              <a:rPr lang="ru-RU" smtClean="0"/>
              <a:t>27.06.2024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0CA71F5-8986-47B1-A279-18C4EAF4AB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93380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431A6-3FE9-455B-9B55-C8F80A0E1AFA}" type="datetimeFigureOut">
              <a:rPr lang="ru-RU" smtClean="0"/>
              <a:t>27.06.2024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0CA71F5-8986-47B1-A279-18C4EAF4AB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9770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431A6-3FE9-455B-9B55-C8F80A0E1AFA}" type="datetimeFigureOut">
              <a:rPr lang="ru-RU" smtClean="0"/>
              <a:t>27.06.2024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0CA71F5-8986-47B1-A279-18C4EAF4AB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7669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431A6-3FE9-455B-9B55-C8F80A0E1AFA}" type="datetimeFigureOut">
              <a:rPr lang="ru-RU" smtClean="0"/>
              <a:t>27.06.2024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A71F5-8986-47B1-A279-18C4EAF4AB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491216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431A6-3FE9-455B-9B55-C8F80A0E1AFA}" type="datetimeFigureOut">
              <a:rPr lang="ru-RU" smtClean="0"/>
              <a:t>27.06.2024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A71F5-8986-47B1-A279-18C4EAF4AB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75980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431A6-3FE9-455B-9B55-C8F80A0E1AFA}" type="datetimeFigureOut">
              <a:rPr lang="ru-RU" smtClean="0"/>
              <a:t>27.06.2024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A71F5-8986-47B1-A279-18C4EAF4AB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18460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431A6-3FE9-455B-9B55-C8F80A0E1AFA}" type="datetimeFigureOut">
              <a:rPr lang="ru-RU" smtClean="0"/>
              <a:t>27.06.2024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0CA71F5-8986-47B1-A279-18C4EAF4AB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2559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431A6-3FE9-455B-9B55-C8F80A0E1AFA}" type="datetimeFigureOut">
              <a:rPr lang="ru-RU" smtClean="0"/>
              <a:t>27.06.2024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0CA71F5-8986-47B1-A279-18C4EAF4AB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81930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431A6-3FE9-455B-9B55-C8F80A0E1AFA}" type="datetimeFigureOut">
              <a:rPr lang="ru-RU" smtClean="0"/>
              <a:t>27.06.2024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0CA71F5-8986-47B1-A279-18C4EAF4ABA2}" type="slidenum">
              <a:rPr lang="ru-RU" smtClean="0"/>
              <a:t>‹#›</a:t>
            </a:fld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144182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431A6-3FE9-455B-9B55-C8F80A0E1AFA}" type="datetimeFigureOut">
              <a:rPr lang="ru-RU" smtClean="0"/>
              <a:t>27.06.2024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0CA71F5-8986-47B1-A279-18C4EAF4AB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98520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431A6-3FE9-455B-9B55-C8F80A0E1AFA}" type="datetimeFigureOut">
              <a:rPr lang="ru-RU" smtClean="0"/>
              <a:t>27.06.2024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0CA71F5-8986-47B1-A279-18C4EAF4ABA2}" type="slidenum">
              <a:rPr lang="ru-RU" smtClean="0"/>
              <a:t>‹#›</a:t>
            </a:fld>
            <a:endParaRPr lang="ru-RU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3380383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431A6-3FE9-455B-9B55-C8F80A0E1AFA}" type="datetimeFigureOut">
              <a:rPr lang="ru-RU" smtClean="0"/>
              <a:t>27.06.2024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0CA71F5-8986-47B1-A279-18C4EAF4AB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70930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431A6-3FE9-455B-9B55-C8F80A0E1AFA}" type="datetimeFigureOut">
              <a:rPr lang="ru-RU" smtClean="0"/>
              <a:t>27.06.2024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A71F5-8986-47B1-A279-18C4EAF4AB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37632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431A6-3FE9-455B-9B55-C8F80A0E1AFA}" type="datetimeFigureOut">
              <a:rPr lang="ru-RU" smtClean="0"/>
              <a:t>27.06.2024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A71F5-8986-47B1-A279-18C4EAF4AB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5443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0431A6-3FE9-455B-9B55-C8F80A0E1AFA}" type="datetimeFigureOut">
              <a:rPr lang="ru-RU" smtClean="0"/>
              <a:t>27.06.2024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50CA71F5-8986-47B1-A279-18C4EAF4AB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3533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67" r:id="rId1"/>
    <p:sldLayoutId id="2147483968" r:id="rId2"/>
    <p:sldLayoutId id="2147483969" r:id="rId3"/>
    <p:sldLayoutId id="2147483970" r:id="rId4"/>
    <p:sldLayoutId id="2147483971" r:id="rId5"/>
    <p:sldLayoutId id="2147483972" r:id="rId6"/>
    <p:sldLayoutId id="2147483973" r:id="rId7"/>
    <p:sldLayoutId id="2147483974" r:id="rId8"/>
    <p:sldLayoutId id="2147483975" r:id="rId9"/>
    <p:sldLayoutId id="2147483976" r:id="rId10"/>
    <p:sldLayoutId id="2147483977" r:id="rId11"/>
    <p:sldLayoutId id="2147483978" r:id="rId12"/>
    <p:sldLayoutId id="2147483979" r:id="rId13"/>
    <p:sldLayoutId id="2147483980" r:id="rId14"/>
    <p:sldLayoutId id="2147483981" r:id="rId15"/>
    <p:sldLayoutId id="2147483982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IvanShvidko/Praktika01" TargetMode="Externa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A48F69C-E8B7-0903-C674-17392B27E87A}"/>
              </a:ext>
            </a:extLst>
          </p:cNvPr>
          <p:cNvSpPr/>
          <p:nvPr/>
        </p:nvSpPr>
        <p:spPr>
          <a:xfrm>
            <a:off x="2378640" y="326614"/>
            <a:ext cx="7434377" cy="738664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МИНИСТЕРСТВО ОБРАЗОВАНИЯ ИРКУТСКОЙ ОБЛАСТИ</a:t>
            </a:r>
          </a:p>
          <a:p>
            <a:pPr algn="ctr"/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 Государственное бюджетное профессиональное образовательное учреждение Иркутской области «Ангарский промышленно – экономический техникум»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F1CC6C3F-6A3A-45F7-2AC2-80559F2BEB48}"/>
              </a:ext>
            </a:extLst>
          </p:cNvPr>
          <p:cNvSpPr/>
          <p:nvPr/>
        </p:nvSpPr>
        <p:spPr>
          <a:xfrm>
            <a:off x="2378639" y="1273265"/>
            <a:ext cx="7434377" cy="1292662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ОТЧЁТ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по практической подготовке в виде производственной практике профессионального модуля (ПМ.01) Разработка модулей программного обеспечения для компьютерных систем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DE1065D-F2E3-D665-9907-75C89A23FEE8}"/>
              </a:ext>
            </a:extLst>
          </p:cNvPr>
          <p:cNvSpPr/>
          <p:nvPr/>
        </p:nvSpPr>
        <p:spPr>
          <a:xfrm>
            <a:off x="1866727" y="3001376"/>
            <a:ext cx="8458200" cy="872034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ru-RU" i="1" dirty="0">
                <a:latin typeface="Arial" panose="020B0604020202020204" pitchFamily="34" charset="0"/>
                <a:cs typeface="Arial" panose="020B0604020202020204" pitchFamily="34" charset="0"/>
              </a:rPr>
              <a:t>по специальности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09.02.07 Информационные системы и программирование</a:t>
            </a:r>
          </a:p>
          <a:p>
            <a:pPr algn="just">
              <a:lnSpc>
                <a:spcPct val="150000"/>
              </a:lnSpc>
            </a:pPr>
            <a:r>
              <a:rPr lang="ru-RU" i="1" dirty="0">
                <a:latin typeface="Arial" panose="020B0604020202020204" pitchFamily="34" charset="0"/>
                <a:cs typeface="Arial" panose="020B0604020202020204" pitchFamily="34" charset="0"/>
              </a:rPr>
              <a:t>обучающегося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3 курса </a:t>
            </a:r>
            <a:r>
              <a:rPr lang="ru-RU" i="1" dirty="0">
                <a:latin typeface="Arial" panose="020B0604020202020204" pitchFamily="34" charset="0"/>
                <a:cs typeface="Arial" panose="020B0604020202020204" pitchFamily="34" charset="0"/>
              </a:rPr>
              <a:t>группы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ИСПП-5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4C6462B-2D04-5FAE-048A-CAE5E371679E}"/>
              </a:ext>
            </a:extLst>
          </p:cNvPr>
          <p:cNvSpPr/>
          <p:nvPr/>
        </p:nvSpPr>
        <p:spPr>
          <a:xfrm>
            <a:off x="1194902" y="4091836"/>
            <a:ext cx="9801850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Буйлова</a:t>
            </a:r>
            <a:r>
              <a:rPr lang="ru-R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 Михаила </a:t>
            </a:r>
            <a:r>
              <a:rPr lang="ru-R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Алексеевича</a:t>
            </a: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8F218F0E-980D-EBBA-3B07-4ED6AC236F92}"/>
              </a:ext>
            </a:extLst>
          </p:cNvPr>
          <p:cNvCxnSpPr>
            <a:cxnSpLocks/>
          </p:cNvCxnSpPr>
          <p:nvPr/>
        </p:nvCxnSpPr>
        <p:spPr>
          <a:xfrm flipH="1">
            <a:off x="2046083" y="4491946"/>
            <a:ext cx="808474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D7384A1-14E8-9D07-5AF3-279A60E783E8}"/>
              </a:ext>
            </a:extLst>
          </p:cNvPr>
          <p:cNvSpPr/>
          <p:nvPr/>
        </p:nvSpPr>
        <p:spPr>
          <a:xfrm>
            <a:off x="2488317" y="4701887"/>
            <a:ext cx="7215031" cy="369332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ru-RU" i="1" dirty="0">
                <a:latin typeface="Arial" panose="020B0604020202020204" pitchFamily="34" charset="0"/>
                <a:cs typeface="Arial" panose="020B0604020202020204" pitchFamily="34" charset="0"/>
              </a:rPr>
              <a:t>Руководитель практики</a:t>
            </a:r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    Туркина Надежда Михайловна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4D9FCB56-1305-CE40-E10D-39C37AB6B697}"/>
              </a:ext>
            </a:extLst>
          </p:cNvPr>
          <p:cNvSpPr/>
          <p:nvPr/>
        </p:nvSpPr>
        <p:spPr>
          <a:xfrm>
            <a:off x="4893874" y="5974504"/>
            <a:ext cx="2403911" cy="584775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1600" dirty="0">
                <a:latin typeface="Arial" panose="020B0604020202020204" pitchFamily="34" charset="0"/>
                <a:cs typeface="Arial" panose="020B0604020202020204" pitchFamily="34" charset="0"/>
              </a:rPr>
              <a:t>г. Ангарск</a:t>
            </a:r>
          </a:p>
          <a:p>
            <a:pPr algn="ctr"/>
            <a:r>
              <a:rPr lang="ru-RU" sz="1600" dirty="0">
                <a:latin typeface="Arial" panose="020B0604020202020204" pitchFamily="34" charset="0"/>
                <a:cs typeface="Arial" panose="020B0604020202020204" pitchFamily="34" charset="0"/>
              </a:rPr>
              <a:t>2024 г.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38114619-9E19-CEE8-D298-71A585198E6A}"/>
              </a:ext>
            </a:extLst>
          </p:cNvPr>
          <p:cNvCxnSpPr>
            <a:cxnSpLocks/>
          </p:cNvCxnSpPr>
          <p:nvPr/>
        </p:nvCxnSpPr>
        <p:spPr>
          <a:xfrm flipH="1">
            <a:off x="5570807" y="5014947"/>
            <a:ext cx="352792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1293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8691597-FEB6-F52B-961E-E43326A2BD16}"/>
              </a:ext>
            </a:extLst>
          </p:cNvPr>
          <p:cNvSpPr/>
          <p:nvPr/>
        </p:nvSpPr>
        <p:spPr>
          <a:xfrm>
            <a:off x="961761" y="531092"/>
            <a:ext cx="743351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200" b="1" dirty="0" smtClean="0">
                <a:latin typeface="Arial" panose="020B0604020202020204" pitchFamily="34" charset="0"/>
                <a:cs typeface="Arial" panose="020B0604020202020204" pitchFamily="34" charset="0"/>
              </a:rPr>
              <a:t>     Цель </a:t>
            </a:r>
            <a:r>
              <a:rPr lang="ru-RU" sz="3200" b="1" dirty="0">
                <a:latin typeface="Arial" panose="020B0604020202020204" pitchFamily="34" charset="0"/>
                <a:cs typeface="Arial" panose="020B0604020202020204" pitchFamily="34" charset="0"/>
              </a:rPr>
              <a:t>и задачи учебной практики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FD94B3D-9957-E925-4058-ACB17AA0D878}"/>
              </a:ext>
            </a:extLst>
          </p:cNvPr>
          <p:cNvSpPr/>
          <p:nvPr/>
        </p:nvSpPr>
        <p:spPr>
          <a:xfrm>
            <a:off x="798167" y="1290091"/>
            <a:ext cx="10595666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450000" algn="just">
              <a:lnSpc>
                <a:spcPct val="150000"/>
              </a:lnSpc>
            </a:pPr>
            <a:r>
              <a:rPr lang="ru-RU" sz="2000" dirty="0">
                <a:latin typeface="Arial" panose="020B0604020202020204" pitchFamily="34" charset="0"/>
                <a:cs typeface="Arial" pitchFamily="34" charset="0"/>
              </a:rPr>
              <a:t>Целью является разработка </a:t>
            </a:r>
            <a:r>
              <a:rPr lang="ru-RU" sz="2000" dirty="0" smtClean="0">
                <a:latin typeface="Arial" panose="020B0604020202020204" pitchFamily="34" charset="0"/>
                <a:cs typeface="Arial" pitchFamily="34" charset="0"/>
              </a:rPr>
              <a:t>веб-сайт для расчета стоимости мобильной связи.</a:t>
            </a:r>
            <a:endParaRPr lang="ru-RU" sz="2000" dirty="0">
              <a:latin typeface="Arial" panose="020B0604020202020204" pitchFamily="34" charset="0"/>
              <a:cs typeface="Arial" pitchFamily="34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6B6C078-1F14-AB70-4B13-5611B0C4D5AF}"/>
              </a:ext>
            </a:extLst>
          </p:cNvPr>
          <p:cNvSpPr/>
          <p:nvPr/>
        </p:nvSpPr>
        <p:spPr>
          <a:xfrm>
            <a:off x="798167" y="2553173"/>
            <a:ext cx="10595666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457200" algn="just">
              <a:lnSpc>
                <a:spcPct val="150000"/>
              </a:lnSpc>
            </a:pPr>
            <a:r>
              <a:rPr lang="ru-RU" sz="2000" dirty="0">
                <a:latin typeface="Arial" pitchFamily="34" charset="0"/>
                <a:cs typeface="Arial" pitchFamily="34" charset="0"/>
              </a:rPr>
              <a:t>Основные задачи для разработки </a:t>
            </a:r>
            <a:r>
              <a:rPr lang="ru-RU" sz="2000" dirty="0" smtClean="0">
                <a:latin typeface="Arial" pitchFamily="34" charset="0"/>
                <a:cs typeface="Arial" pitchFamily="34" charset="0"/>
              </a:rPr>
              <a:t>веб-сайта:</a:t>
            </a:r>
            <a:endParaRPr lang="ru-RU" sz="2000" dirty="0">
              <a:latin typeface="Arial" pitchFamily="34" charset="0"/>
              <a:cs typeface="Arial" pitchFamily="34" charset="0"/>
            </a:endParaRPr>
          </a:p>
          <a:p>
            <a:pPr lvl="0" indent="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 smtClean="0">
                <a:latin typeface="Arial" pitchFamily="34" charset="0"/>
                <a:cs typeface="Arial" pitchFamily="34" charset="0"/>
              </a:rPr>
              <a:t>Создать </a:t>
            </a:r>
            <a:r>
              <a:rPr lang="ru-RU" sz="2000" dirty="0">
                <a:latin typeface="Arial" pitchFamily="34" charset="0"/>
                <a:cs typeface="Arial" pitchFamily="34" charset="0"/>
              </a:rPr>
              <a:t>информационную систему, которая бы обеспечивала расчет мобильной </a:t>
            </a:r>
            <a:r>
              <a:rPr lang="ru-RU" sz="2000" dirty="0" smtClean="0">
                <a:latin typeface="Arial" pitchFamily="34" charset="0"/>
                <a:cs typeface="Arial" pitchFamily="34" charset="0"/>
              </a:rPr>
              <a:t>связи;</a:t>
            </a:r>
            <a:endParaRPr lang="ru-RU" sz="2000" dirty="0">
              <a:latin typeface="Arial" pitchFamily="34" charset="0"/>
              <a:cs typeface="Arial" pitchFamily="34" charset="0"/>
            </a:endParaRPr>
          </a:p>
          <a:p>
            <a:pPr indent="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 smtClean="0">
                <a:latin typeface="Arial" pitchFamily="34" charset="0"/>
                <a:cs typeface="Arial" pitchFamily="34" charset="0"/>
              </a:rPr>
              <a:t>Реализовать </a:t>
            </a:r>
            <a:r>
              <a:rPr lang="ru-RU" sz="2000" dirty="0">
                <a:latin typeface="Arial" pitchFamily="34" charset="0"/>
                <a:cs typeface="Arial" pitchFamily="34" charset="0"/>
              </a:rPr>
              <a:t>программу в </a:t>
            </a:r>
            <a:r>
              <a:rPr lang="en-US" sz="2000" dirty="0">
                <a:latin typeface="Arial" panose="020B0604020202020204" pitchFamily="34" charset="0"/>
                <a:cs typeface="Arial" pitchFamily="34" charset="0"/>
              </a:rPr>
              <a:t>Node</a:t>
            </a:r>
            <a:r>
              <a:rPr lang="ru-RU" sz="2000" dirty="0">
                <a:latin typeface="Arial" panose="020B0604020202020204" pitchFamily="34" charset="0"/>
                <a:cs typeface="Arial" pitchFamily="34" charset="0"/>
              </a:rPr>
              <a:t>.</a:t>
            </a:r>
            <a:r>
              <a:rPr lang="en-US" sz="2000" dirty="0" err="1">
                <a:latin typeface="Arial" panose="020B0604020202020204" pitchFamily="34" charset="0"/>
                <a:cs typeface="Arial" pitchFamily="34" charset="0"/>
              </a:rPr>
              <a:t>js</a:t>
            </a:r>
            <a:r>
              <a:rPr lang="ru-RU" sz="2000" dirty="0">
                <a:latin typeface="Arial" panose="020B0604020202020204" pitchFamily="34" charset="0"/>
                <a:cs typeface="Arial" pitchFamily="34" charset="0"/>
              </a:rPr>
              <a:t>, которая будет отправлять запрос в созданную УНФ на 1С и выводить ответ.</a:t>
            </a:r>
          </a:p>
        </p:txBody>
      </p:sp>
    </p:spTree>
    <p:extLst>
      <p:ext uri="{BB962C8B-B14F-4D97-AF65-F5344CB8AC3E}">
        <p14:creationId xmlns:p14="http://schemas.microsoft.com/office/powerpoint/2010/main" val="744312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85A984B-DC6A-803A-7431-4F5BE59C178A}"/>
              </a:ext>
            </a:extLst>
          </p:cNvPr>
          <p:cNvSpPr/>
          <p:nvPr/>
        </p:nvSpPr>
        <p:spPr>
          <a:xfrm>
            <a:off x="961761" y="531092"/>
            <a:ext cx="851521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200" b="1" dirty="0" smtClean="0">
                <a:latin typeface="Arial" panose="020B0604020202020204" pitchFamily="34" charset="0"/>
                <a:cs typeface="Arial" panose="020B0604020202020204" pitchFamily="34" charset="0"/>
              </a:rPr>
              <a:t>     Диаграмма </a:t>
            </a:r>
            <a:r>
              <a:rPr lang="ru-RU" sz="3200" b="1" dirty="0">
                <a:latin typeface="Arial" panose="020B0604020202020204" pitchFamily="34" charset="0"/>
                <a:cs typeface="Arial" panose="020B0604020202020204" pitchFamily="34" charset="0"/>
              </a:rPr>
              <a:t>вариантов использования</a:t>
            </a:r>
          </a:p>
        </p:txBody>
      </p:sp>
      <p:pic>
        <p:nvPicPr>
          <p:cNvPr id="4" name="Рисунок 3" descr="C:\Users\ADMIN\AppData\Local\Packages\Microsoft.Windows.Photos_8wekyb3d8bbwe\TempState\ShareServiceTempFolder\Drawing.jpeg"/>
          <p:cNvPicPr/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33" t="16624" r="39400" b="56619"/>
          <a:stretch/>
        </p:blipFill>
        <p:spPr bwMode="auto">
          <a:xfrm>
            <a:off x="3477260" y="1461134"/>
            <a:ext cx="5241290" cy="4393565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9843698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672AEF4-CDD6-3110-047C-413FC8648787}"/>
              </a:ext>
            </a:extLst>
          </p:cNvPr>
          <p:cNvSpPr txBox="1"/>
          <p:nvPr/>
        </p:nvSpPr>
        <p:spPr>
          <a:xfrm>
            <a:off x="1044311" y="1638319"/>
            <a:ext cx="46067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Для начала была </a:t>
            </a:r>
            <a:r>
              <a:rPr lang="ru-R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создан сам веб-сайт в котором можно было вводить необходимые тарифы пользователю</a:t>
            </a: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6EC7BF60-7FE4-DE04-3BB4-11EAAC9A7A55}"/>
              </a:ext>
            </a:extLst>
          </p:cNvPr>
          <p:cNvSpPr/>
          <p:nvPr/>
        </p:nvSpPr>
        <p:spPr>
          <a:xfrm>
            <a:off x="961761" y="531092"/>
            <a:ext cx="4952253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200" b="1" dirty="0" smtClean="0">
                <a:latin typeface="Arial" panose="020B0604020202020204" pitchFamily="34" charset="0"/>
                <a:cs typeface="Arial" panose="020B0604020202020204" pitchFamily="34" charset="0"/>
              </a:rPr>
              <a:t>  Разработка </a:t>
            </a:r>
            <a:r>
              <a:rPr lang="ru-RU" sz="3200" b="1" dirty="0" smtClean="0">
                <a:latin typeface="Arial" panose="020B0604020202020204" pitchFamily="34" charset="0"/>
                <a:cs typeface="Arial" panose="020B0604020202020204" pitchFamily="34" charset="0"/>
              </a:rPr>
              <a:t>Веб-</a:t>
            </a:r>
            <a:r>
              <a:rPr lang="ru-RU" sz="3200" b="1" dirty="0">
                <a:latin typeface="Arial" panose="020B0604020202020204" pitchFamily="34" charset="0"/>
                <a:cs typeface="Arial" panose="020B0604020202020204" pitchFamily="34" charset="0"/>
              </a:rPr>
              <a:t>С</a:t>
            </a:r>
            <a:r>
              <a:rPr lang="ru-RU" sz="3200" b="1" dirty="0" smtClean="0">
                <a:latin typeface="Arial" panose="020B0604020202020204" pitchFamily="34" charset="0"/>
                <a:cs typeface="Arial" panose="020B0604020202020204" pitchFamily="34" charset="0"/>
              </a:rPr>
              <a:t>айта</a:t>
            </a:r>
            <a:endParaRPr lang="ru-RU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Рисунок 5" descr="C:\Users\ADMIN\AppData\Local\Packages\Microsoft.Windows.Photos_8wekyb3d8bbwe\TempState\ShareServiceTempFolder\Desktop Screenshot 2024.06.27 - 05.27.24.58.jpeg"/>
          <p:cNvPicPr/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184"/>
          <a:stretch/>
        </p:blipFill>
        <p:spPr bwMode="auto">
          <a:xfrm>
            <a:off x="4654550" y="2730182"/>
            <a:ext cx="6610350" cy="3245168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637308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B2D833-EF49-54E7-FB01-5DF401DC7920}"/>
              </a:ext>
            </a:extLst>
          </p:cNvPr>
          <p:cNvSpPr txBox="1"/>
          <p:nvPr/>
        </p:nvSpPr>
        <p:spPr>
          <a:xfrm>
            <a:off x="1773335" y="618486"/>
            <a:ext cx="97193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Далее с помощью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Visual Studio Code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 был создан код </a:t>
            </a:r>
            <a:r>
              <a:rPr lang="ru-R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для расчетов стоимости мобильной связи</a:t>
            </a: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6208" y="1326372"/>
            <a:ext cx="5201642" cy="4999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18158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84C5FEB-2E6E-D0D2-D622-93B922E764B0}"/>
              </a:ext>
            </a:extLst>
          </p:cNvPr>
          <p:cNvSpPr txBox="1"/>
          <p:nvPr/>
        </p:nvSpPr>
        <p:spPr>
          <a:xfrm>
            <a:off x="2077188" y="272050"/>
            <a:ext cx="475209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Далее был </a:t>
            </a:r>
            <a:r>
              <a:rPr lang="ru-R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создан вывод расчета </a:t>
            </a:r>
            <a:r>
              <a:rPr lang="ru-RU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сотимости</a:t>
            </a:r>
            <a:r>
              <a:rPr lang="ru-R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 мобильной связи</a:t>
            </a: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3355" y="1197201"/>
            <a:ext cx="7856329" cy="4169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08501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E75CF6F-9D7A-9112-92BC-243EC90E5346}"/>
              </a:ext>
            </a:extLst>
          </p:cNvPr>
          <p:cNvSpPr txBox="1"/>
          <p:nvPr/>
        </p:nvSpPr>
        <p:spPr>
          <a:xfrm>
            <a:off x="976187" y="1218401"/>
            <a:ext cx="10239626" cy="41498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450000" algn="just">
              <a:lnSpc>
                <a:spcPct val="150000"/>
              </a:lnSpc>
            </a:pPr>
            <a:r>
              <a:rPr lang="ru-RU" sz="2000" dirty="0">
                <a:latin typeface="Arial" pitchFamily="34" charset="0"/>
                <a:cs typeface="Arial" pitchFamily="34" charset="0"/>
              </a:rPr>
              <a:t>В результате практической подготовки в виде производственной практики был проведён анализ предметной области, спроектирован и разработан Телеграм – Бот, который помогает консультантам находить товары по его артикулу.</a:t>
            </a:r>
          </a:p>
          <a:p>
            <a:pPr indent="450000" algn="just">
              <a:lnSpc>
                <a:spcPct val="150000"/>
              </a:lnSpc>
            </a:pPr>
            <a:r>
              <a:rPr lang="ru-RU" sz="2000" dirty="0">
                <a:latin typeface="Arial" pitchFamily="34" charset="0"/>
                <a:cs typeface="Arial" pitchFamily="34" charset="0"/>
              </a:rPr>
              <a:t>Это позволяет сделать вывод, что поставленные цели и задачи выполнены в полном объеме.</a:t>
            </a:r>
            <a:endParaRPr lang="en-US" sz="2000" dirty="0">
              <a:latin typeface="Arial" panose="020B0604020202020204" pitchFamily="34" charset="0"/>
              <a:cs typeface="Arial" pitchFamily="34" charset="0"/>
            </a:endParaRPr>
          </a:p>
          <a:p>
            <a:pPr indent="450000" algn="just">
              <a:lnSpc>
                <a:spcPct val="150000"/>
              </a:lnSpc>
            </a:pPr>
            <a:r>
              <a:rPr lang="ru-RU" sz="2000" dirty="0">
                <a:latin typeface="Arial" panose="020B0604020202020204" pitchFamily="34" charset="0"/>
                <a:cs typeface="Arial" pitchFamily="34" charset="0"/>
              </a:rPr>
              <a:t>В дальнейшем данный Чат-Бот может быть Улучшен добавление поиска по наименованию, выводу файла с остатками товаров и т.д.</a:t>
            </a:r>
          </a:p>
          <a:p>
            <a:pPr indent="450000" algn="just">
              <a:lnSpc>
                <a:spcPct val="150000"/>
              </a:lnSpc>
            </a:pPr>
            <a:endParaRPr lang="en-US" sz="2000" dirty="0">
              <a:latin typeface="Arial" panose="020B0604020202020204" pitchFamily="34" charset="0"/>
              <a:cs typeface="Arial" pitchFamily="34" charset="0"/>
            </a:endParaRPr>
          </a:p>
          <a:p>
            <a:pPr indent="450000" algn="just">
              <a:lnSpc>
                <a:spcPct val="150000"/>
              </a:lnSpc>
            </a:pPr>
            <a:r>
              <a:rPr lang="ru-RU" sz="2000" dirty="0">
                <a:latin typeface="Arial" panose="020B0604020202020204" pitchFamily="34" charset="0"/>
                <a:cs typeface="Arial" pitchFamily="34" charset="0"/>
              </a:rPr>
              <a:t>Проект находится по ссылке</a:t>
            </a:r>
            <a:r>
              <a:rPr lang="en-US" sz="2000" dirty="0">
                <a:latin typeface="Arial" panose="020B0604020202020204" pitchFamily="34" charset="0"/>
                <a:cs typeface="Arial" pitchFamily="34" charset="0"/>
              </a:rPr>
              <a:t>: </a:t>
            </a:r>
            <a:r>
              <a:rPr lang="en-US" sz="2000" dirty="0">
                <a:latin typeface="Arial" panose="020B0604020202020204" pitchFamily="34" charset="0"/>
                <a:cs typeface="Arial" pitchFamily="34" charset="0"/>
                <a:hlinkClick r:id="rId2">
                  <a:extLst>
                    <a:ext uri="{A12FA001-AC4F-418D-AE19-62706E023703}">
                      <ahyp:hlinkClr xmlns="" xmlns:ahyp="http://schemas.microsoft.com/office/drawing/2018/hyperlinkcolor" val="tx"/>
                    </a:ext>
                  </a:extLst>
                </a:hlinkClick>
              </a:rPr>
              <a:t>https://github.com/IvanShvidko/Praktika01</a:t>
            </a:r>
            <a:endParaRPr lang="ru-RU" sz="2000" dirty="0">
              <a:latin typeface="Arial" panose="020B0604020202020204" pitchFamily="34" charset="0"/>
              <a:cs typeface="Arial" pitchFamily="34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187A3CF-2B70-E00A-2ECE-3494AD8F1185}"/>
              </a:ext>
            </a:extLst>
          </p:cNvPr>
          <p:cNvSpPr/>
          <p:nvPr/>
        </p:nvSpPr>
        <p:spPr>
          <a:xfrm>
            <a:off x="961761" y="531092"/>
            <a:ext cx="323896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200" b="1" dirty="0" smtClean="0">
                <a:latin typeface="Arial" panose="020B0604020202020204" pitchFamily="34" charset="0"/>
                <a:cs typeface="Arial" panose="020B0604020202020204" pitchFamily="34" charset="0"/>
              </a:rPr>
              <a:t>     Заключение</a:t>
            </a:r>
            <a:endParaRPr lang="ru-RU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43387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A48F69C-E8B7-0903-C674-17392B27E87A}"/>
              </a:ext>
            </a:extLst>
          </p:cNvPr>
          <p:cNvSpPr/>
          <p:nvPr/>
        </p:nvSpPr>
        <p:spPr>
          <a:xfrm>
            <a:off x="2378640" y="326614"/>
            <a:ext cx="7434377" cy="738664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МИНИСТЕРСТВО ОБРАЗОВАНИЯ ИРКУТСКОЙ ОБЛАСТИ</a:t>
            </a:r>
          </a:p>
          <a:p>
            <a:pPr algn="ctr"/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 Государственное бюджетное профессиональное образовательное учреждение Иркутской области «Ангарский промышленно – экономический техникум»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F1CC6C3F-6A3A-45F7-2AC2-80559F2BEB48}"/>
              </a:ext>
            </a:extLst>
          </p:cNvPr>
          <p:cNvSpPr/>
          <p:nvPr/>
        </p:nvSpPr>
        <p:spPr>
          <a:xfrm>
            <a:off x="2378639" y="1273265"/>
            <a:ext cx="7434377" cy="1292662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ОТЧЁТ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по практической подготовке в виде производственной практике профессионального модуля (ПМ.01) Разработка модулей программного обеспечения для компьютерных систем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DE1065D-F2E3-D665-9907-75C89A23FEE8}"/>
              </a:ext>
            </a:extLst>
          </p:cNvPr>
          <p:cNvSpPr/>
          <p:nvPr/>
        </p:nvSpPr>
        <p:spPr>
          <a:xfrm>
            <a:off x="1866727" y="3001376"/>
            <a:ext cx="8458200" cy="872034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ru-RU" i="1" dirty="0">
                <a:latin typeface="Arial" panose="020B0604020202020204" pitchFamily="34" charset="0"/>
                <a:cs typeface="Arial" panose="020B0604020202020204" pitchFamily="34" charset="0"/>
              </a:rPr>
              <a:t>по специальности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09.02.07 Информационные системы и программирование</a:t>
            </a:r>
          </a:p>
          <a:p>
            <a:pPr algn="just">
              <a:lnSpc>
                <a:spcPct val="150000"/>
              </a:lnSpc>
            </a:pPr>
            <a:r>
              <a:rPr lang="ru-RU" i="1" dirty="0">
                <a:latin typeface="Arial" panose="020B0604020202020204" pitchFamily="34" charset="0"/>
                <a:cs typeface="Arial" panose="020B0604020202020204" pitchFamily="34" charset="0"/>
              </a:rPr>
              <a:t>обучающегося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3 курса </a:t>
            </a:r>
            <a:r>
              <a:rPr lang="ru-RU" i="1" dirty="0">
                <a:latin typeface="Arial" panose="020B0604020202020204" pitchFamily="34" charset="0"/>
                <a:cs typeface="Arial" panose="020B0604020202020204" pitchFamily="34" charset="0"/>
              </a:rPr>
              <a:t>группы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ИСПП-5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4C6462B-2D04-5FAE-048A-CAE5E371679E}"/>
              </a:ext>
            </a:extLst>
          </p:cNvPr>
          <p:cNvSpPr/>
          <p:nvPr/>
        </p:nvSpPr>
        <p:spPr>
          <a:xfrm>
            <a:off x="1194902" y="4091836"/>
            <a:ext cx="9801850" cy="40011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2000" dirty="0" err="1">
                <a:latin typeface="Arial" panose="020B0604020202020204" pitchFamily="34" charset="0"/>
                <a:cs typeface="Arial" panose="020B0604020202020204" pitchFamily="34" charset="0"/>
              </a:rPr>
              <a:t>Буйлова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 Михаила Алексеевича</a:t>
            </a: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8F218F0E-980D-EBBA-3B07-4ED6AC236F92}"/>
              </a:ext>
            </a:extLst>
          </p:cNvPr>
          <p:cNvCxnSpPr>
            <a:cxnSpLocks/>
          </p:cNvCxnSpPr>
          <p:nvPr/>
        </p:nvCxnSpPr>
        <p:spPr>
          <a:xfrm flipH="1">
            <a:off x="2046083" y="4491946"/>
            <a:ext cx="808474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D7384A1-14E8-9D07-5AF3-279A60E783E8}"/>
              </a:ext>
            </a:extLst>
          </p:cNvPr>
          <p:cNvSpPr/>
          <p:nvPr/>
        </p:nvSpPr>
        <p:spPr>
          <a:xfrm>
            <a:off x="2488317" y="4701887"/>
            <a:ext cx="7215031" cy="369332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ru-RU" i="1" dirty="0">
                <a:latin typeface="Arial" panose="020B0604020202020204" pitchFamily="34" charset="0"/>
                <a:cs typeface="Arial" panose="020B0604020202020204" pitchFamily="34" charset="0"/>
              </a:rPr>
              <a:t>Руководитель практики</a:t>
            </a:r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    Туркина Надежда Михайловна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4D9FCB56-1305-CE40-E10D-39C37AB6B697}"/>
              </a:ext>
            </a:extLst>
          </p:cNvPr>
          <p:cNvSpPr/>
          <p:nvPr/>
        </p:nvSpPr>
        <p:spPr>
          <a:xfrm>
            <a:off x="4893874" y="5974504"/>
            <a:ext cx="2403911" cy="584775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1600" dirty="0">
                <a:latin typeface="Arial" panose="020B0604020202020204" pitchFamily="34" charset="0"/>
                <a:cs typeface="Arial" panose="020B0604020202020204" pitchFamily="34" charset="0"/>
              </a:rPr>
              <a:t>г. Ангарск</a:t>
            </a:r>
          </a:p>
          <a:p>
            <a:pPr algn="ctr"/>
            <a:r>
              <a:rPr lang="ru-RU" sz="1600" dirty="0">
                <a:latin typeface="Arial" panose="020B0604020202020204" pitchFamily="34" charset="0"/>
                <a:cs typeface="Arial" panose="020B0604020202020204" pitchFamily="34" charset="0"/>
              </a:rPr>
              <a:t>2024 г.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38114619-9E19-CEE8-D298-71A585198E6A}"/>
              </a:ext>
            </a:extLst>
          </p:cNvPr>
          <p:cNvCxnSpPr>
            <a:cxnSpLocks/>
          </p:cNvCxnSpPr>
          <p:nvPr/>
        </p:nvCxnSpPr>
        <p:spPr>
          <a:xfrm flipH="1">
            <a:off x="5570807" y="5014947"/>
            <a:ext cx="352792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1251709"/>
      </p:ext>
    </p:extLst>
  </p:cSld>
  <p:clrMapOvr>
    <a:masterClrMapping/>
  </p:clrMapOvr>
</p:sld>
</file>

<file path=ppt/theme/theme1.xml><?xml version="1.0" encoding="utf-8"?>
<a:theme xmlns:a="http://schemas.openxmlformats.org/drawingml/2006/main" name="Легкий дым">
  <a:themeElements>
    <a:clrScheme name="Легкий дым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Легкий дым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Легкий дым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54</TotalTime>
  <Words>303</Words>
  <Application>Microsoft Office PowerPoint</Application>
  <PresentationFormat>Широкоэкранный</PresentationFormat>
  <Paragraphs>36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2" baseType="lpstr">
      <vt:lpstr>Arial</vt:lpstr>
      <vt:lpstr>Century Gothic</vt:lpstr>
      <vt:lpstr>Wingdings 3</vt:lpstr>
      <vt:lpstr>Легкий дым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Владимир</dc:creator>
  <cp:lastModifiedBy>ADMIN</cp:lastModifiedBy>
  <cp:revision>72</cp:revision>
  <dcterms:created xsi:type="dcterms:W3CDTF">2024-06-26T17:38:46Z</dcterms:created>
  <dcterms:modified xsi:type="dcterms:W3CDTF">2024-06-27T00:29:10Z</dcterms:modified>
</cp:coreProperties>
</file>