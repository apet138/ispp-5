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4" r:id="rId4"/>
    <p:sldId id="258" r:id="rId5"/>
    <p:sldId id="263" r:id="rId6"/>
    <p:sldId id="279" r:id="rId7"/>
    <p:sldId id="285" r:id="rId8"/>
    <p:sldId id="286" r:id="rId9"/>
    <p:sldId id="287" r:id="rId10"/>
    <p:sldId id="288" r:id="rId11"/>
    <p:sldId id="290" r:id="rId12"/>
    <p:sldId id="291" r:id="rId13"/>
    <p:sldId id="292" r:id="rId14"/>
    <p:sldId id="293" r:id="rId15"/>
    <p:sldId id="295" r:id="rId16"/>
    <p:sldId id="296" r:id="rId17"/>
    <p:sldId id="297" r:id="rId18"/>
    <p:sldId id="298" r:id="rId19"/>
    <p:sldId id="299" r:id="rId20"/>
    <p:sldId id="268" r:id="rId21"/>
    <p:sldId id="30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BE8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87" autoAdjust="0"/>
    <p:restoredTop sz="94660"/>
  </p:normalViewPr>
  <p:slideViewPr>
    <p:cSldViewPr snapToGrid="0">
      <p:cViewPr varScale="1">
        <p:scale>
          <a:sx n="47" d="100"/>
          <a:sy n="47" d="100"/>
        </p:scale>
        <p:origin x="67" y="95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97F0FA2-7EBE-44DE-8B42-0A69B6F070A6}" type="datetimeFigureOut">
              <a:rPr lang="ru-RU" smtClean="0"/>
              <a:t>25.10.2024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B130F59-7833-413C-9170-BAA57A4ED1AE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029646974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F0FA2-7EBE-44DE-8B42-0A69B6F070A6}" type="datetimeFigureOut">
              <a:rPr lang="ru-RU" smtClean="0"/>
              <a:t>25.10.2024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30F59-7833-413C-9170-BAA57A4ED1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6833875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97F0FA2-7EBE-44DE-8B42-0A69B6F070A6}" type="datetimeFigureOut">
              <a:rPr lang="ru-RU" smtClean="0"/>
              <a:t>25.10.2024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B130F59-7833-413C-9170-BAA57A4ED1AE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876857286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F0FA2-7EBE-44DE-8B42-0A69B6F070A6}" type="datetimeFigureOut">
              <a:rPr lang="ru-RU" smtClean="0"/>
              <a:t>25.10.2024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30F59-7833-413C-9170-BAA57A4ED1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3453338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F0FA2-7EBE-44DE-8B42-0A69B6F070A6}" type="datetimeFigureOut">
              <a:rPr lang="ru-RU" smtClean="0"/>
              <a:t>25.10.2024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30F59-7833-413C-9170-BAA57A4ED1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833678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F0FA2-7EBE-44DE-8B42-0A69B6F070A6}" type="datetimeFigureOut">
              <a:rPr lang="ru-RU" smtClean="0"/>
              <a:t>25.10.2024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30F59-7833-413C-9170-BAA57A4ED1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4807394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F0FA2-7EBE-44DE-8B42-0A69B6F070A6}" type="datetimeFigureOut">
              <a:rPr lang="ru-RU" smtClean="0"/>
              <a:t>25.10.2024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30F59-7833-413C-9170-BAA57A4ED1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353319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97F0FA2-7EBE-44DE-8B42-0A69B6F070A6}" type="datetimeFigureOut">
              <a:rPr lang="ru-RU" smtClean="0"/>
              <a:t>25.10.2024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B130F59-7833-413C-9170-BAA57A4ED1A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40195969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97F0FA2-7EBE-44DE-8B42-0A69B6F070A6}" type="datetimeFigureOut">
              <a:rPr lang="ru-RU" smtClean="0"/>
              <a:t>25.10.2024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B130F59-7833-413C-9170-BAA57A4ED1A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39561581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F0FA2-7EBE-44DE-8B42-0A69B6F070A6}" type="datetimeFigureOut">
              <a:rPr lang="ru-RU" smtClean="0"/>
              <a:t>25.10.2024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30F59-7833-413C-9170-BAA57A4ED1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707503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F0FA2-7EBE-44DE-8B42-0A69B6F070A6}" type="datetimeFigureOut">
              <a:rPr lang="ru-RU" smtClean="0"/>
              <a:t>25.10.2024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30F59-7833-413C-9170-BAA57A4ED1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54977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A97F0FA2-7EBE-44DE-8B42-0A69B6F070A6}" type="datetimeFigureOut">
              <a:rPr lang="ru-RU" smtClean="0"/>
              <a:t>25.10.2024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B130F59-7833-413C-9170-BAA57A4ED1A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56992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D0DC80-42FC-4DCE-A018-EFA515ACE129}"/>
              </a:ext>
            </a:extLst>
          </p:cNvPr>
          <p:cNvSpPr txBox="1"/>
          <p:nvPr/>
        </p:nvSpPr>
        <p:spPr>
          <a:xfrm>
            <a:off x="3816914" y="247311"/>
            <a:ext cx="523129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МИНИСТЕРСТВО ОБРАЗОВАНИЯ ИРКУТСКОЙ ОБЛАСТИ </a:t>
            </a:r>
          </a:p>
          <a:p>
            <a:pPr algn="ctr"/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Государственное бюджетное профессиональное образовательное учреждение Иркутской области «Ангарский промышленно – экономический техникум»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CBCA83-7B37-4755-BC10-364C30559C1A}"/>
              </a:ext>
            </a:extLst>
          </p:cNvPr>
          <p:cNvSpPr txBox="1"/>
          <p:nvPr/>
        </p:nvSpPr>
        <p:spPr>
          <a:xfrm>
            <a:off x="2190749" y="1613356"/>
            <a:ext cx="781049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ОТЧЁТ 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 практической подготовке в виде учебной практике профессионального модуля (ПМ.04) Сопровождение и обслуживание программного обеспечения компьютерных систем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4BA202-1243-40FF-B304-CDFCB77D4EE7}"/>
              </a:ext>
            </a:extLst>
          </p:cNvPr>
          <p:cNvSpPr txBox="1"/>
          <p:nvPr/>
        </p:nvSpPr>
        <p:spPr>
          <a:xfrm>
            <a:off x="2190749" y="3071389"/>
            <a:ext cx="8277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Arial" pitchFamily="34" charset="0"/>
                <a:cs typeface="Arial" pitchFamily="34" charset="0"/>
              </a:rPr>
              <a:t>по специальности  09.02.07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 </a:t>
            </a:r>
            <a:r>
              <a:rPr lang="ru-RU" sz="1600" dirty="0">
                <a:latin typeface="Arial" pitchFamily="34" charset="0"/>
                <a:cs typeface="Arial" pitchFamily="34" charset="0"/>
              </a:rPr>
              <a:t>Информационные системы и программирование </a:t>
            </a:r>
          </a:p>
          <a:p>
            <a:r>
              <a:rPr lang="ru-RU" sz="1600" dirty="0">
                <a:latin typeface="Arial" pitchFamily="34" charset="0"/>
                <a:cs typeface="Arial" pitchFamily="34" charset="0"/>
              </a:rPr>
              <a:t>обучающегося    4 курса     группы    ИСПП-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5</a:t>
            </a:r>
            <a:endParaRPr lang="ru-RU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23CF90-653F-4570-BF0C-3E95592B3681}"/>
              </a:ext>
            </a:extLst>
          </p:cNvPr>
          <p:cNvSpPr txBox="1"/>
          <p:nvPr/>
        </p:nvSpPr>
        <p:spPr>
          <a:xfrm>
            <a:off x="5551714" y="6074229"/>
            <a:ext cx="1224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г. Ангарск 2024 г.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6AAA9755-85F4-4DE7-AFB8-E3C29C5B849F}"/>
              </a:ext>
            </a:extLst>
          </p:cNvPr>
          <p:cNvCxnSpPr/>
          <p:nvPr/>
        </p:nvCxnSpPr>
        <p:spPr>
          <a:xfrm>
            <a:off x="2890021" y="4299025"/>
            <a:ext cx="64119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2BD0C4F-AB8D-4241-96FC-DD23A68FC3AC}"/>
              </a:ext>
            </a:extLst>
          </p:cNvPr>
          <p:cNvSpPr txBox="1"/>
          <p:nvPr/>
        </p:nvSpPr>
        <p:spPr>
          <a:xfrm>
            <a:off x="2945980" y="3864447"/>
            <a:ext cx="6436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Швидко Ивана Анатольевича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FD9238EF-09D0-439B-8E1B-4D234826E578}"/>
              </a:ext>
            </a:extLst>
          </p:cNvPr>
          <p:cNvCxnSpPr>
            <a:cxnSpLocks/>
          </p:cNvCxnSpPr>
          <p:nvPr/>
        </p:nvCxnSpPr>
        <p:spPr>
          <a:xfrm>
            <a:off x="4872942" y="4989905"/>
            <a:ext cx="43477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EC1C8AA-3746-45AE-8234-A70BD92A109D}"/>
              </a:ext>
            </a:extLst>
          </p:cNvPr>
          <p:cNvSpPr txBox="1"/>
          <p:nvPr/>
        </p:nvSpPr>
        <p:spPr>
          <a:xfrm>
            <a:off x="2457450" y="4705349"/>
            <a:ext cx="24726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Arial" pitchFamily="34" charset="0"/>
                <a:cs typeface="Arial" pitchFamily="34" charset="0"/>
              </a:rPr>
              <a:t>Руководитель практики</a:t>
            </a:r>
            <a:r>
              <a:rPr lang="ru-RU" sz="1400" dirty="0">
                <a:latin typeface="Arial" pitchFamily="34" charset="0"/>
                <a:cs typeface="Arial" pitchFamily="34" charset="0"/>
              </a:rPr>
              <a:t>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B974FD-3E1F-4BA0-9041-6CAE15A4B62C}"/>
              </a:ext>
            </a:extLst>
          </p:cNvPr>
          <p:cNvSpPr txBox="1"/>
          <p:nvPr/>
        </p:nvSpPr>
        <p:spPr>
          <a:xfrm>
            <a:off x="5190150" y="4633438"/>
            <a:ext cx="3736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Туркина Надежда Михайловна</a:t>
            </a:r>
          </a:p>
        </p:txBody>
      </p:sp>
    </p:spTree>
    <p:extLst>
      <p:ext uri="{BB962C8B-B14F-4D97-AF65-F5344CB8AC3E}">
        <p14:creationId xmlns:p14="http://schemas.microsoft.com/office/powerpoint/2010/main" val="27757808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1555B2D-914D-45E3-A7B3-7188563A4C1C}"/>
              </a:ext>
            </a:extLst>
          </p:cNvPr>
          <p:cNvSpPr/>
          <p:nvPr/>
        </p:nvSpPr>
        <p:spPr>
          <a:xfrm>
            <a:off x="961761" y="531092"/>
            <a:ext cx="68644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Цели и задачи учебной практики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E71CC3-70D8-43BC-977C-BB68D18FBA98}"/>
              </a:ext>
            </a:extLst>
          </p:cNvPr>
          <p:cNvSpPr txBox="1"/>
          <p:nvPr/>
        </p:nvSpPr>
        <p:spPr>
          <a:xfrm>
            <a:off x="1355834" y="1355834"/>
            <a:ext cx="10310649" cy="872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000" algn="just">
              <a:lnSpc>
                <a:spcPct val="150000"/>
              </a:lnSpc>
            </a:pPr>
            <a:r>
              <a:rPr lang="ru-RU" dirty="0">
                <a:latin typeface="Arial" pitchFamily="34" charset="0"/>
                <a:cs typeface="Arial" pitchFamily="34" charset="0"/>
              </a:rPr>
              <a:t>Целью практики является приобретение практических навыков в области сопровождения и обслуживания ПО, включая установку, настройку и обновление программных продуктов.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8B1E43-A31D-46F6-BBF5-4DD68B526F92}"/>
              </a:ext>
            </a:extLst>
          </p:cNvPr>
          <p:cNvSpPr txBox="1"/>
          <p:nvPr/>
        </p:nvSpPr>
        <p:spPr>
          <a:xfrm>
            <a:off x="1355834" y="2407259"/>
            <a:ext cx="9711558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000" algn="just">
              <a:lnSpc>
                <a:spcPct val="150000"/>
              </a:lnSpc>
            </a:pPr>
            <a:r>
              <a:rPr lang="ru-RU" dirty="0">
                <a:latin typeface="Arial" pitchFamily="34" charset="0"/>
                <a:cs typeface="Arial" pitchFamily="34" charset="0"/>
              </a:rPr>
              <a:t>Задачи учебной практики:</a:t>
            </a:r>
          </a:p>
          <a:p>
            <a:pPr lvl="0" indent="45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Arial" pitchFamily="34" charset="0"/>
                <a:cs typeface="Arial" pitchFamily="34" charset="0"/>
              </a:rPr>
              <a:t>Ознакомление с основными этапами жизненного цикла программного обеспечения, включая его проектирование, разработки и сопровождение.</a:t>
            </a:r>
          </a:p>
          <a:p>
            <a:pPr lvl="0" indent="45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Arial" pitchFamily="34" charset="0"/>
                <a:cs typeface="Arial" pitchFamily="34" charset="0"/>
              </a:rPr>
              <a:t>Изучение стандартов и методологий, применяемых в сфере сопровождения ПО.</a:t>
            </a:r>
          </a:p>
          <a:p>
            <a:pPr lvl="0" indent="45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Arial" pitchFamily="34" charset="0"/>
                <a:cs typeface="Arial" pitchFamily="34" charset="0"/>
              </a:rPr>
              <a:t>Практическое применение инструментов для автоматизации процесса поддержки ПО.</a:t>
            </a:r>
          </a:p>
          <a:p>
            <a:pPr lvl="0" indent="45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Arial" pitchFamily="34" charset="0"/>
                <a:cs typeface="Arial" pitchFamily="34" charset="0"/>
              </a:rPr>
              <a:t>Анализ типовых проблем, возникающих при эксплуатации ПО, и выработка подходов к их решению.</a:t>
            </a:r>
          </a:p>
          <a:p>
            <a:pPr lvl="0" indent="45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Arial" pitchFamily="34" charset="0"/>
                <a:cs typeface="Arial" pitchFamily="34" charset="0"/>
              </a:rPr>
              <a:t>Разработка рекомендаций по улучшению качества обслуживания ПО и повышению уровня удовлетворенности пользователей.</a:t>
            </a:r>
          </a:p>
        </p:txBody>
      </p:sp>
    </p:spTree>
    <p:extLst>
      <p:ext uri="{BB962C8B-B14F-4D97-AF65-F5344CB8AC3E}">
        <p14:creationId xmlns:p14="http://schemas.microsoft.com/office/powerpoint/2010/main" val="421817954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1555B2D-914D-45E3-A7B3-7188563A4C1C}"/>
              </a:ext>
            </a:extLst>
          </p:cNvPr>
          <p:cNvSpPr/>
          <p:nvPr/>
        </p:nvSpPr>
        <p:spPr>
          <a:xfrm>
            <a:off x="961761" y="531092"/>
            <a:ext cx="40718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Постановка задачи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5E551A-651C-430A-AFB8-ED586D0E0081}"/>
              </a:ext>
            </a:extLst>
          </p:cNvPr>
          <p:cNvSpPr txBox="1"/>
          <p:nvPr/>
        </p:nvSpPr>
        <p:spPr>
          <a:xfrm>
            <a:off x="1597478" y="1502228"/>
            <a:ext cx="962025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000" algn="just" fontAlgn="base">
              <a:lnSpc>
                <a:spcPct val="150000"/>
              </a:lnSpc>
            </a:pPr>
            <a:r>
              <a:rPr lang="ru-RU" dirty="0">
                <a:latin typeface="Arial" pitchFamily="34" charset="0"/>
                <a:cs typeface="Arial" pitchFamily="34" charset="0"/>
              </a:rPr>
              <a:t>В условиях быстрого роста сферы логистики и складских операций, когда успешная деятельность напрямую зависит от эффективного управления поставками и продажами, компании активно используют современные информационные системы для автоматизации работы с поставщиками, учета товаров, контроля запасов, обработки заказов и сбыта продукции конечным покупателям.</a:t>
            </a:r>
          </a:p>
          <a:p>
            <a:pPr indent="450000" algn="just" fontAlgn="base">
              <a:lnSpc>
                <a:spcPct val="150000"/>
              </a:lnSpc>
            </a:pPr>
            <a:r>
              <a:rPr lang="ru-RU" dirty="0">
                <a:latin typeface="Arial" pitchFamily="34" charset="0"/>
                <a:cs typeface="Arial" pitchFamily="34" charset="0"/>
              </a:rPr>
              <a:t>Необходимо разработать такую информационную систему, которая будет обеспечивать быстрое и результативное управление всеми стадиями поступления товаров на склад и их дальнейшей реализации.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439548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1555B2D-914D-45E3-A7B3-7188563A4C1C}"/>
              </a:ext>
            </a:extLst>
          </p:cNvPr>
          <p:cNvSpPr/>
          <p:nvPr/>
        </p:nvSpPr>
        <p:spPr>
          <a:xfrm>
            <a:off x="961761" y="531092"/>
            <a:ext cx="56882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Программное обеспечение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E71CC3-70D8-43BC-977C-BB68D18FBA98}"/>
              </a:ext>
            </a:extLst>
          </p:cNvPr>
          <p:cNvSpPr txBox="1"/>
          <p:nvPr/>
        </p:nvSpPr>
        <p:spPr>
          <a:xfrm>
            <a:off x="1212800" y="4931620"/>
            <a:ext cx="27813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Microsoft Visio</a:t>
            </a:r>
            <a:endParaRPr lang="ru-RU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02A083-6DF6-45B9-BD50-40EF778642EE}"/>
              </a:ext>
            </a:extLst>
          </p:cNvPr>
          <p:cNvSpPr txBox="1"/>
          <p:nvPr/>
        </p:nvSpPr>
        <p:spPr>
          <a:xfrm>
            <a:off x="8302961" y="4957075"/>
            <a:ext cx="3464526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ctr">
              <a:lnSpc>
                <a:spcPct val="150000"/>
              </a:lnSpc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Android Studio</a:t>
            </a:r>
            <a:endParaRPr lang="ru-RU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2" descr="Download Microsoft Visio Logo in SVG Vector or PNG File Format - Logo.wine">
            <a:extLst>
              <a:ext uri="{FF2B5EF4-FFF2-40B4-BE49-F238E27FC236}">
                <a16:creationId xmlns:a16="http://schemas.microsoft.com/office/drawing/2014/main" id="{1D6BC3D7-876C-468F-B14D-6B0A170F2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53" y="2151192"/>
            <a:ext cx="4822813" cy="321520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1C:Предприятие 8.3. Версия для обучения программированию - ГК  «АгроСервис-ИТ»">
            <a:extLst>
              <a:ext uri="{FF2B5EF4-FFF2-40B4-BE49-F238E27FC236}">
                <a16:creationId xmlns:a16="http://schemas.microsoft.com/office/drawing/2014/main" id="{2A611732-56AE-4EFC-9049-F7F55D740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7484" y="1279157"/>
            <a:ext cx="3525002" cy="27532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81F638F-BC05-43BB-80CF-E8264D20C387}"/>
              </a:ext>
            </a:extLst>
          </p:cNvPr>
          <p:cNvSpPr/>
          <p:nvPr/>
        </p:nvSpPr>
        <p:spPr>
          <a:xfrm>
            <a:off x="4602385" y="4035084"/>
            <a:ext cx="3256442" cy="456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1С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Предприятие 8.3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F3990C79-664F-4FCF-A3A4-7CD34B1A0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4494" y="2447845"/>
            <a:ext cx="2621902" cy="26219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715275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1555B2D-914D-45E3-A7B3-7188563A4C1C}"/>
              </a:ext>
            </a:extLst>
          </p:cNvPr>
          <p:cNvSpPr/>
          <p:nvPr/>
        </p:nvSpPr>
        <p:spPr>
          <a:xfrm>
            <a:off x="1213146" y="394526"/>
            <a:ext cx="5729261" cy="7397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Установка 1С:Предприятие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B9E0AC-F513-4CE4-BDE7-F0776DA94E83}"/>
              </a:ext>
            </a:extLst>
          </p:cNvPr>
          <p:cNvSpPr txBox="1"/>
          <p:nvPr/>
        </p:nvSpPr>
        <p:spPr>
          <a:xfrm>
            <a:off x="1488903" y="1616528"/>
            <a:ext cx="422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1. Сайт для установки 1С: Предприятие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0D55EA-BACA-4955-B9F7-9F23EFE8B1CE}"/>
              </a:ext>
            </a:extLst>
          </p:cNvPr>
          <p:cNvSpPr txBox="1"/>
          <p:nvPr/>
        </p:nvSpPr>
        <p:spPr>
          <a:xfrm>
            <a:off x="7304314" y="1801194"/>
            <a:ext cx="422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2. Выбор операционной системы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2D02E91-0132-4DB6-9F23-FA84CB572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06" y="2272166"/>
            <a:ext cx="4985094" cy="26979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94C65EB-EE36-481C-85D0-E52EAFCC0C0E}"/>
              </a:ext>
            </a:extLst>
          </p:cNvPr>
          <p:cNvPicPr/>
          <p:nvPr/>
        </p:nvPicPr>
        <p:blipFill rotWithShape="1">
          <a:blip r:embed="rId3"/>
          <a:srcRect l="3907" r="2659" b="2690"/>
          <a:stretch/>
        </p:blipFill>
        <p:spPr>
          <a:xfrm>
            <a:off x="6706163" y="2383317"/>
            <a:ext cx="4985093" cy="20913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9845062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82B10A3-E81D-43CC-9101-460A18614BDD}"/>
              </a:ext>
            </a:extLst>
          </p:cNvPr>
          <p:cNvSpPr/>
          <p:nvPr/>
        </p:nvSpPr>
        <p:spPr>
          <a:xfrm>
            <a:off x="9826752" y="4490085"/>
            <a:ext cx="56388" cy="50084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C4FED82-781F-4551-AEAE-3C8A1FCFD9C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49259" y="1857334"/>
            <a:ext cx="3390991" cy="288317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4C753E5-1BF4-478C-8495-254F111997C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271351" y="1741170"/>
            <a:ext cx="4004310" cy="12534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2ABE603-A467-4CF3-9A96-0D6C20B33DE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504271" y="4490085"/>
            <a:ext cx="5538470" cy="15671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0C91BF-2966-412D-B721-AA91D179A3B1}"/>
              </a:ext>
            </a:extLst>
          </p:cNvPr>
          <p:cNvSpPr txBox="1"/>
          <p:nvPr/>
        </p:nvSpPr>
        <p:spPr>
          <a:xfrm>
            <a:off x="1017814" y="1349522"/>
            <a:ext cx="422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3. Этап заполнения данных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D446F5-BF91-463A-8AFB-5678072E55C3}"/>
              </a:ext>
            </a:extLst>
          </p:cNvPr>
          <p:cNvSpPr txBox="1"/>
          <p:nvPr/>
        </p:nvSpPr>
        <p:spPr>
          <a:xfrm>
            <a:off x="6487886" y="1164856"/>
            <a:ext cx="422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4. Успешно отправленная заявка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B639C-F277-4BC9-9B4F-CF6A39F51C4A}"/>
              </a:ext>
            </a:extLst>
          </p:cNvPr>
          <p:cNvSpPr txBox="1"/>
          <p:nvPr/>
        </p:nvSpPr>
        <p:spPr>
          <a:xfrm>
            <a:off x="6271351" y="3908204"/>
            <a:ext cx="422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5. Сообщение с установщиком</a:t>
            </a:r>
          </a:p>
        </p:txBody>
      </p:sp>
    </p:spTree>
    <p:extLst>
      <p:ext uri="{BB962C8B-B14F-4D97-AF65-F5344CB8AC3E}">
        <p14:creationId xmlns:p14="http://schemas.microsoft.com/office/powerpoint/2010/main" val="145274022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82B10A3-E81D-43CC-9101-460A18614BDD}"/>
              </a:ext>
            </a:extLst>
          </p:cNvPr>
          <p:cNvSpPr/>
          <p:nvPr/>
        </p:nvSpPr>
        <p:spPr>
          <a:xfrm>
            <a:off x="9826752" y="4490085"/>
            <a:ext cx="56388" cy="50084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D4E0C04-2B3F-425E-B4C4-7C3986D48FA6}"/>
              </a:ext>
            </a:extLst>
          </p:cNvPr>
          <p:cNvPicPr/>
          <p:nvPr/>
        </p:nvPicPr>
        <p:blipFill rotWithShape="1">
          <a:blip r:embed="rId2"/>
          <a:srcRect b="10725"/>
          <a:stretch/>
        </p:blipFill>
        <p:spPr>
          <a:xfrm>
            <a:off x="1236117" y="1081099"/>
            <a:ext cx="3891054" cy="32619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19807A5-6802-4249-8B48-F8186A7EDED0}"/>
              </a:ext>
            </a:extLst>
          </p:cNvPr>
          <p:cNvPicPr/>
          <p:nvPr/>
        </p:nvPicPr>
        <p:blipFill rotWithShape="1">
          <a:blip r:embed="rId3"/>
          <a:srcRect l="9321" t="9383" r="22571"/>
          <a:stretch/>
        </p:blipFill>
        <p:spPr>
          <a:xfrm>
            <a:off x="7205253" y="1042826"/>
            <a:ext cx="3891054" cy="39481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8DE9081-3B28-47B6-92E7-66B872EF41F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158863" y="5430508"/>
            <a:ext cx="3891054" cy="8774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8509BC-14BF-43F6-AD1A-704E1E8440CB}"/>
              </a:ext>
            </a:extLst>
          </p:cNvPr>
          <p:cNvSpPr txBox="1"/>
          <p:nvPr/>
        </p:nvSpPr>
        <p:spPr>
          <a:xfrm>
            <a:off x="1491342" y="550041"/>
            <a:ext cx="422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6. Архив с установкой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98F624-9EAE-435E-B3CB-0C0CA53BECF1}"/>
              </a:ext>
            </a:extLst>
          </p:cNvPr>
          <p:cNvSpPr txBox="1"/>
          <p:nvPr/>
        </p:nvSpPr>
        <p:spPr>
          <a:xfrm>
            <a:off x="6906986" y="550041"/>
            <a:ext cx="4659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7. Отдельная папка с файлами установщика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D39397-99BB-4FB2-80D2-BC760C0DA574}"/>
              </a:ext>
            </a:extLst>
          </p:cNvPr>
          <p:cNvSpPr txBox="1"/>
          <p:nvPr/>
        </p:nvSpPr>
        <p:spPr>
          <a:xfrm>
            <a:off x="2172353" y="4990927"/>
            <a:ext cx="422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8. Необходимый для запуска файл</a:t>
            </a:r>
          </a:p>
        </p:txBody>
      </p:sp>
    </p:spTree>
    <p:extLst>
      <p:ext uri="{BB962C8B-B14F-4D97-AF65-F5344CB8AC3E}">
        <p14:creationId xmlns:p14="http://schemas.microsoft.com/office/powerpoint/2010/main" val="51036603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82B10A3-E81D-43CC-9101-460A18614BDD}"/>
              </a:ext>
            </a:extLst>
          </p:cNvPr>
          <p:cNvSpPr/>
          <p:nvPr/>
        </p:nvSpPr>
        <p:spPr>
          <a:xfrm>
            <a:off x="9826752" y="4490085"/>
            <a:ext cx="56388" cy="50084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4F4D842-832B-40D3-90F7-086529C0087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47430" y="934946"/>
            <a:ext cx="3510370" cy="13673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69A3E2B-685C-409A-A798-A42DD4800BF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844756" y="685800"/>
            <a:ext cx="3510370" cy="265067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6B27594-F7A3-4354-8115-67EF1393487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747430" y="3429000"/>
            <a:ext cx="3889375" cy="29641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816228E-CB70-4172-B61F-A3A0DC9B7489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7224349" y="4051664"/>
            <a:ext cx="3372894" cy="249609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C6871C4-BB70-431E-A76C-7EE2938BC4EA}"/>
              </a:ext>
            </a:extLst>
          </p:cNvPr>
          <p:cNvSpPr txBox="1"/>
          <p:nvPr/>
        </p:nvSpPr>
        <p:spPr>
          <a:xfrm>
            <a:off x="1665787" y="464820"/>
            <a:ext cx="422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9. Процесс подготовки к установке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66DB99-D78E-4A5A-BBB8-BF964382DF6D}"/>
              </a:ext>
            </a:extLst>
          </p:cNvPr>
          <p:cNvSpPr txBox="1"/>
          <p:nvPr/>
        </p:nvSpPr>
        <p:spPr>
          <a:xfrm>
            <a:off x="6796246" y="316468"/>
            <a:ext cx="422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10. Окно приветствия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49BEF0-2026-49F7-99F3-3D828585896E}"/>
              </a:ext>
            </a:extLst>
          </p:cNvPr>
          <p:cNvSpPr txBox="1"/>
          <p:nvPr/>
        </p:nvSpPr>
        <p:spPr>
          <a:xfrm>
            <a:off x="1747430" y="3030124"/>
            <a:ext cx="422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11. Окно компонентов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F711F6-0E07-48B5-9BDE-2BC29358E6D9}"/>
              </a:ext>
            </a:extLst>
          </p:cNvPr>
          <p:cNvSpPr txBox="1"/>
          <p:nvPr/>
        </p:nvSpPr>
        <p:spPr>
          <a:xfrm>
            <a:off x="7224349" y="3682332"/>
            <a:ext cx="422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12. Пункт выбора языка</a:t>
            </a:r>
          </a:p>
        </p:txBody>
      </p:sp>
    </p:spTree>
    <p:extLst>
      <p:ext uri="{BB962C8B-B14F-4D97-AF65-F5344CB8AC3E}">
        <p14:creationId xmlns:p14="http://schemas.microsoft.com/office/powerpoint/2010/main" val="176317476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82B10A3-E81D-43CC-9101-460A18614BDD}"/>
              </a:ext>
            </a:extLst>
          </p:cNvPr>
          <p:cNvSpPr/>
          <p:nvPr/>
        </p:nvSpPr>
        <p:spPr>
          <a:xfrm>
            <a:off x="9826752" y="4490085"/>
            <a:ext cx="56388" cy="50084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385577B-613C-4540-9DF4-28188F5CFA3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31204" y="631779"/>
            <a:ext cx="3480278" cy="26155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358663-8A4B-4375-8D25-D53CE16C5B9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119255" y="729746"/>
            <a:ext cx="3504067" cy="26155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43D12C8-DE36-4624-BBC5-3F1F498C16F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866900" y="3905957"/>
            <a:ext cx="3504067" cy="26155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D1FABB1-0DEA-4D6E-BD11-5C0F27F21491}"/>
              </a:ext>
            </a:extLst>
          </p:cNvPr>
          <p:cNvSpPr txBox="1"/>
          <p:nvPr/>
        </p:nvSpPr>
        <p:spPr>
          <a:xfrm>
            <a:off x="1331204" y="262447"/>
            <a:ext cx="422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13. Готовность к установке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992ED9-7A44-41BA-90A5-E1D5AECDD7A0}"/>
              </a:ext>
            </a:extLst>
          </p:cNvPr>
          <p:cNvSpPr txBox="1"/>
          <p:nvPr/>
        </p:nvSpPr>
        <p:spPr>
          <a:xfrm>
            <a:off x="7119255" y="360414"/>
            <a:ext cx="422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14. Пункт с установкой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5AC1F0-BEC3-4A5B-B62C-65ABC21EB160}"/>
              </a:ext>
            </a:extLst>
          </p:cNvPr>
          <p:cNvSpPr txBox="1"/>
          <p:nvPr/>
        </p:nvSpPr>
        <p:spPr>
          <a:xfrm>
            <a:off x="1866900" y="3436991"/>
            <a:ext cx="422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15. Окно успешной установки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A59F4F8-52C8-47E8-9146-9E1A310F3A71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7986770" y="4324177"/>
            <a:ext cx="1304290" cy="13335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F17ACA2-2008-4CF3-933F-226C77A20BDB}"/>
              </a:ext>
            </a:extLst>
          </p:cNvPr>
          <p:cNvSpPr txBox="1"/>
          <p:nvPr/>
        </p:nvSpPr>
        <p:spPr>
          <a:xfrm>
            <a:off x="6979896" y="3788019"/>
            <a:ext cx="422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16. Ярлык установленной программы</a:t>
            </a:r>
          </a:p>
        </p:txBody>
      </p:sp>
    </p:spTree>
    <p:extLst>
      <p:ext uri="{BB962C8B-B14F-4D97-AF65-F5344CB8AC3E}">
        <p14:creationId xmlns:p14="http://schemas.microsoft.com/office/powerpoint/2010/main" val="169037649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1555B2D-914D-45E3-A7B3-7188563A4C1C}"/>
              </a:ext>
            </a:extLst>
          </p:cNvPr>
          <p:cNvSpPr/>
          <p:nvPr/>
        </p:nvSpPr>
        <p:spPr>
          <a:xfrm>
            <a:off x="1213146" y="394526"/>
            <a:ext cx="5628144" cy="7397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Схема ЛВС кабинета «138»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D1932AC-439E-4490-9E64-4CBF0920F91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5117" y="1464400"/>
            <a:ext cx="7980861" cy="47051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333579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1555B2D-914D-45E3-A7B3-7188563A4C1C}"/>
              </a:ext>
            </a:extLst>
          </p:cNvPr>
          <p:cNvSpPr/>
          <p:nvPr/>
        </p:nvSpPr>
        <p:spPr>
          <a:xfrm>
            <a:off x="1213146" y="394526"/>
            <a:ext cx="4582537" cy="7397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Установка драйверов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C1D6831-8FB6-4FAE-B772-9C1E5E4278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79032" y="1680347"/>
            <a:ext cx="4464324" cy="249976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1BB4016-6AAF-4B3F-AA0C-C6895E1538B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182044" y="2027919"/>
            <a:ext cx="3997583" cy="291539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EEFB551-6C2D-4D62-9919-ED998DB77E2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011164" y="4726181"/>
            <a:ext cx="3601908" cy="19950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8536071-0DD6-4ACC-B0C8-7CC684C0DDA4}"/>
              </a:ext>
            </a:extLst>
          </p:cNvPr>
          <p:cNvSpPr txBox="1"/>
          <p:nvPr/>
        </p:nvSpPr>
        <p:spPr>
          <a:xfrm>
            <a:off x="583018" y="1278544"/>
            <a:ext cx="422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/>
            <a:r>
              <a:rPr lang="ru-RU" dirty="0"/>
              <a:t>1. Официальный сайт nvidia.ru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B30F77-C185-415E-AD4D-C9C69652318D}"/>
              </a:ext>
            </a:extLst>
          </p:cNvPr>
          <p:cNvSpPr txBox="1"/>
          <p:nvPr/>
        </p:nvSpPr>
        <p:spPr>
          <a:xfrm>
            <a:off x="6870343" y="1357181"/>
            <a:ext cx="4620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/>
            <a:r>
              <a:rPr lang="ru-RU" dirty="0"/>
              <a:t>2. Тип, серия, операционная система и язык продукта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C975D0-BF39-41F9-84F0-8039F2021344}"/>
              </a:ext>
            </a:extLst>
          </p:cNvPr>
          <p:cNvSpPr txBox="1"/>
          <p:nvPr/>
        </p:nvSpPr>
        <p:spPr>
          <a:xfrm>
            <a:off x="2501626" y="4314587"/>
            <a:ext cx="4620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/>
            <a:r>
              <a:rPr lang="ru-RU" dirty="0"/>
              <a:t>3. Окно соглашения</a:t>
            </a:r>
          </a:p>
        </p:txBody>
      </p:sp>
    </p:spTree>
    <p:extLst>
      <p:ext uri="{BB962C8B-B14F-4D97-AF65-F5344CB8AC3E}">
        <p14:creationId xmlns:p14="http://schemas.microsoft.com/office/powerpoint/2010/main" val="23040253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1555B2D-914D-45E3-A7B3-7188563A4C1C}"/>
              </a:ext>
            </a:extLst>
          </p:cNvPr>
          <p:cNvSpPr/>
          <p:nvPr/>
        </p:nvSpPr>
        <p:spPr>
          <a:xfrm>
            <a:off x="1575882" y="394526"/>
            <a:ext cx="8680774" cy="7397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Авторизация в </a:t>
            </a:r>
            <a:r>
              <a:rPr lang="ru-RU" sz="3200" b="1">
                <a:latin typeface="Arial" panose="020B0604020202020204" pitchFamily="34" charset="0"/>
                <a:cs typeface="Arial" panose="020B0604020202020204" pitchFamily="34" charset="0"/>
              </a:rPr>
              <a:t>информационная система</a:t>
            </a:r>
            <a:endParaRPr lang="ru-RU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9E8DFFC-736B-498A-9EC5-825951C80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764" y="1606730"/>
            <a:ext cx="7220958" cy="39057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7582299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AA9BAAC-87A4-459E-B63C-0646F3AC6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631" y="1786496"/>
            <a:ext cx="2124474" cy="16477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10AC8E7-70C8-4EEC-A895-2DB2FF89A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273" y="1755502"/>
            <a:ext cx="2736967" cy="165714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BD0698E-01E3-4CB7-A875-F99E4D00D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9347" y="1959126"/>
            <a:ext cx="2322048" cy="9036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4C9BA8-46FC-4BFD-8D17-DAF83A0AA0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4548" y="3905771"/>
            <a:ext cx="3692400" cy="10873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2AD5B7B-BD35-4DD9-A579-63982C6469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9407" y="4073451"/>
            <a:ext cx="2712242" cy="7468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9B3E9EF-0FA8-4B89-8FE1-4AC998DAA1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8789" y="5674847"/>
            <a:ext cx="2948685" cy="6015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32C577B-0B88-403C-9495-6A81EC8E2B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3342" y="5674531"/>
            <a:ext cx="2763930" cy="8009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FB64A13-2084-4561-98C8-60F44B80C725}"/>
              </a:ext>
            </a:extLst>
          </p:cNvPr>
          <p:cNvSpPr/>
          <p:nvPr/>
        </p:nvSpPr>
        <p:spPr>
          <a:xfrm>
            <a:off x="1575882" y="394526"/>
            <a:ext cx="4187237" cy="7397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Создание объектов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F95B09-3FBD-4D4F-BC77-31637D048D29}"/>
              </a:ext>
            </a:extLst>
          </p:cNvPr>
          <p:cNvSpPr txBox="1"/>
          <p:nvPr/>
        </p:nvSpPr>
        <p:spPr>
          <a:xfrm>
            <a:off x="1987220" y="1370713"/>
            <a:ext cx="1610226" cy="368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Справочники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268D8E-5155-45AB-8A7D-F889C6D8ABA5}"/>
              </a:ext>
            </a:extLst>
          </p:cNvPr>
          <p:cNvSpPr txBox="1"/>
          <p:nvPr/>
        </p:nvSpPr>
        <p:spPr>
          <a:xfrm>
            <a:off x="5809139" y="1365815"/>
            <a:ext cx="1610226" cy="368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Документы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2EB9EA-3DF4-445F-864C-297867837299}"/>
              </a:ext>
            </a:extLst>
          </p:cNvPr>
          <p:cNvSpPr txBox="1"/>
          <p:nvPr/>
        </p:nvSpPr>
        <p:spPr>
          <a:xfrm>
            <a:off x="9021903" y="1549893"/>
            <a:ext cx="1610226" cy="368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Перечисления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B5A4D5-6FFD-4529-A779-A0B37155A4E1}"/>
              </a:ext>
            </a:extLst>
          </p:cNvPr>
          <p:cNvSpPr txBox="1"/>
          <p:nvPr/>
        </p:nvSpPr>
        <p:spPr>
          <a:xfrm>
            <a:off x="3477126" y="3524564"/>
            <a:ext cx="1610226" cy="368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Отчёты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EA877E-640D-4FC6-8BE2-8C87C78D7E67}"/>
              </a:ext>
            </a:extLst>
          </p:cNvPr>
          <p:cNvSpPr txBox="1"/>
          <p:nvPr/>
        </p:nvSpPr>
        <p:spPr>
          <a:xfrm>
            <a:off x="8370359" y="3705294"/>
            <a:ext cx="1610226" cy="368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Обработки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DD37B9-5B84-4888-9465-CE7F0090C41D}"/>
              </a:ext>
            </a:extLst>
          </p:cNvPr>
          <p:cNvSpPr txBox="1"/>
          <p:nvPr/>
        </p:nvSpPr>
        <p:spPr>
          <a:xfrm>
            <a:off x="3886318" y="5345277"/>
            <a:ext cx="2402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Регистры накопления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351073-D64C-4200-8FBB-C4D80EE70306}"/>
              </a:ext>
            </a:extLst>
          </p:cNvPr>
          <p:cNvSpPr txBox="1"/>
          <p:nvPr/>
        </p:nvSpPr>
        <p:spPr>
          <a:xfrm>
            <a:off x="7893074" y="5335604"/>
            <a:ext cx="220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Регистры сведений</a:t>
            </a:r>
          </a:p>
        </p:txBody>
      </p:sp>
    </p:spTree>
    <p:extLst>
      <p:ext uri="{BB962C8B-B14F-4D97-AF65-F5344CB8AC3E}">
        <p14:creationId xmlns:p14="http://schemas.microsoft.com/office/powerpoint/2010/main" val="590552155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1555B2D-914D-45E3-A7B3-7188563A4C1C}"/>
              </a:ext>
            </a:extLst>
          </p:cNvPr>
          <p:cNvSpPr/>
          <p:nvPr/>
        </p:nvSpPr>
        <p:spPr>
          <a:xfrm>
            <a:off x="1575882" y="394526"/>
            <a:ext cx="4981329" cy="739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Мобильная версия 1С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100B342-37F8-41B5-9BB4-AA6D77645FC5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08" t="4423" r="5207" b="1888"/>
          <a:stretch/>
        </p:blipFill>
        <p:spPr bwMode="auto">
          <a:xfrm>
            <a:off x="1764832" y="1855787"/>
            <a:ext cx="2141220" cy="45180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182F12-3E17-4168-B481-E5C80BC7C89B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8" t="3475" r="5827" b="3855"/>
          <a:stretch/>
        </p:blipFill>
        <p:spPr bwMode="auto">
          <a:xfrm>
            <a:off x="5326178" y="1855786"/>
            <a:ext cx="2141219" cy="45180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A6C69B6-C9B5-4200-9DBA-EA4721B3C7DD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7" t="1864" r="7932" b="1386"/>
          <a:stretch/>
        </p:blipFill>
        <p:spPr bwMode="auto">
          <a:xfrm>
            <a:off x="8887523" y="1855786"/>
            <a:ext cx="2141219" cy="45180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783709-6D6D-4DDC-8994-40B8F0FE6209}"/>
              </a:ext>
            </a:extLst>
          </p:cNvPr>
          <p:cNvSpPr txBox="1"/>
          <p:nvPr/>
        </p:nvSpPr>
        <p:spPr>
          <a:xfrm>
            <a:off x="1486002" y="1450358"/>
            <a:ext cx="28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Справочник «Сотрудники»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0C32B2-7004-44AB-8430-B5B9E672A6EA}"/>
              </a:ext>
            </a:extLst>
          </p:cNvPr>
          <p:cNvSpPr txBox="1"/>
          <p:nvPr/>
        </p:nvSpPr>
        <p:spPr>
          <a:xfrm>
            <a:off x="4815689" y="1450358"/>
            <a:ext cx="3162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Документ «Продажа товаров»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DA4F6B-77D2-46A0-A817-8978850F63CB}"/>
              </a:ext>
            </a:extLst>
          </p:cNvPr>
          <p:cNvSpPr txBox="1"/>
          <p:nvPr/>
        </p:nvSpPr>
        <p:spPr>
          <a:xfrm>
            <a:off x="8136398" y="1450358"/>
            <a:ext cx="3643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Отчёт «Отчёт по остаткам товаров»</a:t>
            </a:r>
          </a:p>
        </p:txBody>
      </p:sp>
    </p:spTree>
    <p:extLst>
      <p:ext uri="{BB962C8B-B14F-4D97-AF65-F5344CB8AC3E}">
        <p14:creationId xmlns:p14="http://schemas.microsoft.com/office/powerpoint/2010/main" val="2508372777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1555B2D-914D-45E3-A7B3-7188563A4C1C}"/>
              </a:ext>
            </a:extLst>
          </p:cNvPr>
          <p:cNvSpPr/>
          <p:nvPr/>
        </p:nvSpPr>
        <p:spPr>
          <a:xfrm>
            <a:off x="1575882" y="394526"/>
            <a:ext cx="8434392" cy="739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Модификация ИС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28B6C60-B2D8-42E7-BE25-DE7035EC85A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75882" y="2440590"/>
            <a:ext cx="8655322" cy="7397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517D00-B91B-4D5E-95FA-5E16FFDCFBC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75882" y="4629897"/>
            <a:ext cx="8655322" cy="7397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E47891-1943-4D97-9CB9-EB961DE17E8B}"/>
              </a:ext>
            </a:extLst>
          </p:cNvPr>
          <p:cNvSpPr txBox="1"/>
          <p:nvPr/>
        </p:nvSpPr>
        <p:spPr>
          <a:xfrm>
            <a:off x="1575882" y="1488349"/>
            <a:ext cx="8655322" cy="872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000" algn="just" fontAlgn="base">
              <a:lnSpc>
                <a:spcPct val="150000"/>
              </a:lnSpc>
            </a:pPr>
            <a:r>
              <a:rPr lang="ru-RU" dirty="0">
                <a:latin typeface="Arial" pitchFamily="34" charset="0"/>
                <a:cs typeface="Arial" pitchFamily="34" charset="0"/>
              </a:rPr>
              <a:t>До модификации в документе «Заказ поставщику» при выборе номенклатуры не подставлялась цена этой номенклатуры.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55EC8A-7577-45A7-AFF2-F1FCEFCE32C8}"/>
              </a:ext>
            </a:extLst>
          </p:cNvPr>
          <p:cNvSpPr txBox="1"/>
          <p:nvPr/>
        </p:nvSpPr>
        <p:spPr>
          <a:xfrm>
            <a:off x="1575882" y="3667206"/>
            <a:ext cx="8655322" cy="872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000" algn="just" fontAlgn="base">
              <a:lnSpc>
                <a:spcPct val="150000"/>
              </a:lnSpc>
            </a:pPr>
            <a:r>
              <a:rPr lang="ru-RU" dirty="0">
                <a:latin typeface="Arial" pitchFamily="34" charset="0"/>
                <a:cs typeface="Arial" pitchFamily="34" charset="0"/>
              </a:rPr>
              <a:t>После модификации в документе «Заказ поставщику» при выборе номенклатуры подставляется цена товара.</a:t>
            </a:r>
          </a:p>
        </p:txBody>
      </p:sp>
    </p:spTree>
    <p:extLst>
      <p:ext uri="{BB962C8B-B14F-4D97-AF65-F5344CB8AC3E}">
        <p14:creationId xmlns:p14="http://schemas.microsoft.com/office/powerpoint/2010/main" val="3251710581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1555B2D-914D-45E3-A7B3-7188563A4C1C}"/>
              </a:ext>
            </a:extLst>
          </p:cNvPr>
          <p:cNvSpPr/>
          <p:nvPr/>
        </p:nvSpPr>
        <p:spPr>
          <a:xfrm>
            <a:off x="1575882" y="394526"/>
            <a:ext cx="8434392" cy="739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Установка антивирусного ПО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77B7398-B258-4A48-AED1-0D28924AD7D0}"/>
              </a:ext>
            </a:extLst>
          </p:cNvPr>
          <p:cNvPicPr/>
          <p:nvPr/>
        </p:nvPicPr>
        <p:blipFill rotWithShape="1">
          <a:blip r:embed="rId2"/>
          <a:srcRect r="12836"/>
          <a:stretch/>
        </p:blipFill>
        <p:spPr>
          <a:xfrm>
            <a:off x="1155759" y="2463488"/>
            <a:ext cx="4233660" cy="24320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C94025A-4D39-4A49-90FC-48134453609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903028" y="2001823"/>
            <a:ext cx="4568536" cy="360926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475175-9AAB-4449-92B4-A7E3656ADF4C}"/>
              </a:ext>
            </a:extLst>
          </p:cNvPr>
          <p:cNvSpPr txBox="1"/>
          <p:nvPr/>
        </p:nvSpPr>
        <p:spPr>
          <a:xfrm>
            <a:off x="1094509" y="1817157"/>
            <a:ext cx="4233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/>
            <a:r>
              <a:rPr lang="ru-RU" dirty="0"/>
              <a:t>Сайт с антивирусным программным обеспечением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ED1969-D84B-4C79-AD28-64A2EEE7808E}"/>
              </a:ext>
            </a:extLst>
          </p:cNvPr>
          <p:cNvSpPr txBox="1"/>
          <p:nvPr/>
        </p:nvSpPr>
        <p:spPr>
          <a:xfrm>
            <a:off x="7472248" y="1503244"/>
            <a:ext cx="3625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Приложение с антивирусным ПО</a:t>
            </a:r>
          </a:p>
        </p:txBody>
      </p:sp>
    </p:spTree>
    <p:extLst>
      <p:ext uri="{BB962C8B-B14F-4D97-AF65-F5344CB8AC3E}">
        <p14:creationId xmlns:p14="http://schemas.microsoft.com/office/powerpoint/2010/main" val="4208399994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82B10A3-E81D-43CC-9101-460A18614BDD}"/>
              </a:ext>
            </a:extLst>
          </p:cNvPr>
          <p:cNvSpPr/>
          <p:nvPr/>
        </p:nvSpPr>
        <p:spPr>
          <a:xfrm>
            <a:off x="9826752" y="4490085"/>
            <a:ext cx="56388" cy="50084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43C73BD-46AD-43AD-940F-F351827400E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04257" y="1311130"/>
            <a:ext cx="4168140" cy="28225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09080DF-38AA-4ECB-BF4E-31F097463DE1}"/>
              </a:ext>
            </a:extLst>
          </p:cNvPr>
          <p:cNvPicPr/>
          <p:nvPr/>
        </p:nvPicPr>
        <p:blipFill rotWithShape="1">
          <a:blip r:embed="rId3"/>
          <a:srcRect l="4999" t="13662" r="2112"/>
          <a:stretch/>
        </p:blipFill>
        <p:spPr bwMode="auto">
          <a:xfrm>
            <a:off x="6894022" y="2440795"/>
            <a:ext cx="4389120" cy="26968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805FE39-02CA-4FAD-84F8-95B0B79B3C11}"/>
              </a:ext>
            </a:extLst>
          </p:cNvPr>
          <p:cNvSpPr txBox="1"/>
          <p:nvPr/>
        </p:nvSpPr>
        <p:spPr>
          <a:xfrm>
            <a:off x="1504257" y="827498"/>
            <a:ext cx="3625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Процесс установки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868FA6-EF1A-4691-AC72-DF3C3269FEF2}"/>
              </a:ext>
            </a:extLst>
          </p:cNvPr>
          <p:cNvSpPr txBox="1"/>
          <p:nvPr/>
        </p:nvSpPr>
        <p:spPr>
          <a:xfrm>
            <a:off x="6894022" y="1924750"/>
            <a:ext cx="438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Окончание установки антивирусного ПО</a:t>
            </a:r>
          </a:p>
        </p:txBody>
      </p:sp>
    </p:spTree>
    <p:extLst>
      <p:ext uri="{BB962C8B-B14F-4D97-AF65-F5344CB8AC3E}">
        <p14:creationId xmlns:p14="http://schemas.microsoft.com/office/powerpoint/2010/main" val="2757846851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82B10A3-E81D-43CC-9101-460A18614BDD}"/>
              </a:ext>
            </a:extLst>
          </p:cNvPr>
          <p:cNvSpPr/>
          <p:nvPr/>
        </p:nvSpPr>
        <p:spPr>
          <a:xfrm>
            <a:off x="9826752" y="4490085"/>
            <a:ext cx="56388" cy="50084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E90F894-C6CC-4245-95A3-DA1FEE1DF9B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20982" y="1199110"/>
            <a:ext cx="3962400" cy="25755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B369282-0279-4EE0-AE2A-D6354F128B0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608620" y="3330806"/>
            <a:ext cx="4360545" cy="28194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638741-7FDC-434B-9A1A-CBCAAC5AEA70}"/>
              </a:ext>
            </a:extLst>
          </p:cNvPr>
          <p:cNvSpPr txBox="1"/>
          <p:nvPr/>
        </p:nvSpPr>
        <p:spPr>
          <a:xfrm>
            <a:off x="1620982" y="671440"/>
            <a:ext cx="1632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Проверка ПК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DCF5DE-8411-4089-AF9B-4191D16DD4FE}"/>
              </a:ext>
            </a:extLst>
          </p:cNvPr>
          <p:cNvSpPr txBox="1"/>
          <p:nvPr/>
        </p:nvSpPr>
        <p:spPr>
          <a:xfrm>
            <a:off x="6608620" y="2787796"/>
            <a:ext cx="3625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Проверка компьютер</a:t>
            </a:r>
          </a:p>
        </p:txBody>
      </p:sp>
    </p:spTree>
    <p:extLst>
      <p:ext uri="{BB962C8B-B14F-4D97-AF65-F5344CB8AC3E}">
        <p14:creationId xmlns:p14="http://schemas.microsoft.com/office/powerpoint/2010/main" val="2961042614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38A0BF9-9BB5-47D7-B491-3B88E18D3CD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48542" y="944909"/>
            <a:ext cx="3936076" cy="24840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9D86A65-9032-4824-955E-01ADFDBFE11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239692" y="944909"/>
            <a:ext cx="3936076" cy="24840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CCE4E74-AF38-4722-A5C5-1CC9B3A4326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239837" y="4028729"/>
            <a:ext cx="3988793" cy="263738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CF15FF-2BD5-45D9-B2C2-DAECD53AA0D1}"/>
              </a:ext>
            </a:extLst>
          </p:cNvPr>
          <p:cNvSpPr txBox="1"/>
          <p:nvPr/>
        </p:nvSpPr>
        <p:spPr>
          <a:xfrm>
            <a:off x="1046960" y="388362"/>
            <a:ext cx="4528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Исправление ошибок после проверки ПК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9FA5C1-FEEE-4C37-AB57-B55DDDAEDB2C}"/>
              </a:ext>
            </a:extLst>
          </p:cNvPr>
          <p:cNvSpPr txBox="1"/>
          <p:nvPr/>
        </p:nvSpPr>
        <p:spPr>
          <a:xfrm>
            <a:off x="7550525" y="460379"/>
            <a:ext cx="3625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Исправление выбранной ошибки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E44611-5E13-4132-8D8C-2AABBB7DDE53}"/>
              </a:ext>
            </a:extLst>
          </p:cNvPr>
          <p:cNvSpPr txBox="1"/>
          <p:nvPr/>
        </p:nvSpPr>
        <p:spPr>
          <a:xfrm>
            <a:off x="4603387" y="3574707"/>
            <a:ext cx="3625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Результат исправления ошибок</a:t>
            </a:r>
          </a:p>
        </p:txBody>
      </p:sp>
    </p:spTree>
    <p:extLst>
      <p:ext uri="{BB962C8B-B14F-4D97-AF65-F5344CB8AC3E}">
        <p14:creationId xmlns:p14="http://schemas.microsoft.com/office/powerpoint/2010/main" val="41463182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1555B2D-914D-45E3-A7B3-7188563A4C1C}"/>
              </a:ext>
            </a:extLst>
          </p:cNvPr>
          <p:cNvSpPr/>
          <p:nvPr/>
        </p:nvSpPr>
        <p:spPr>
          <a:xfrm>
            <a:off x="1284717" y="397166"/>
            <a:ext cx="2669898" cy="7397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Заключение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84717" y="1136920"/>
            <a:ext cx="10239626" cy="4611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000" algn="just" fontAlgn="base">
              <a:lnSpc>
                <a:spcPct val="150000"/>
              </a:lnSpc>
            </a:pPr>
            <a:r>
              <a:rPr lang="ru-RU" dirty="0">
                <a:latin typeface="Arial" pitchFamily="34" charset="0"/>
                <a:cs typeface="Arial" pitchFamily="34" charset="0"/>
              </a:rPr>
              <a:t>В ходе учебной практики был осуществлён глубокий анализ нормативно-правовых актов, касающихся техники безопасности, а также изучены процедуры вводного инструктажа для создания безопасных условий труда. Особое внимание уделялось эксплуатации компьютерных систем и защите данных.</a:t>
            </a:r>
          </a:p>
          <a:p>
            <a:pPr indent="450000" algn="just" fontAlgn="base">
              <a:lnSpc>
                <a:spcPct val="150000"/>
              </a:lnSpc>
            </a:pPr>
            <a:r>
              <a:rPr lang="ru-RU" dirty="0">
                <a:latin typeface="Arial" pitchFamily="34" charset="0"/>
                <a:cs typeface="Arial" pitchFamily="34" charset="0"/>
              </a:rPr>
              <a:t>Одной из ключевых задач стало внедрение инновационных технических решений и поддержка существующих компьютерных систем предприятия. В результате была разработана и адаптирована база данных на платформе 1С, учитывающая уникальные потребности компании. Также проведена настройка защитного программного обеспечения для обеспечения безопасности информационных систем.</a:t>
            </a:r>
          </a:p>
          <a:p>
            <a:pPr indent="450000" algn="just" fontAlgn="base">
              <a:lnSpc>
                <a:spcPct val="150000"/>
              </a:lnSpc>
            </a:pPr>
            <a:r>
              <a:rPr lang="ru-RU" dirty="0">
                <a:latin typeface="Arial" pitchFamily="34" charset="0"/>
                <a:cs typeface="Arial" pitchFamily="34" charset="0"/>
              </a:rPr>
              <a:t>Практика предоставила возможность применить теоретические знания и получить ценный опыт работы с информационными системами.</a:t>
            </a:r>
            <a:endParaRPr lang="ru-RU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34431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D0DC80-42FC-4DCE-A018-EFA515ACE129}"/>
              </a:ext>
            </a:extLst>
          </p:cNvPr>
          <p:cNvSpPr txBox="1"/>
          <p:nvPr/>
        </p:nvSpPr>
        <p:spPr>
          <a:xfrm>
            <a:off x="3816914" y="247311"/>
            <a:ext cx="523129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МИНИСТЕРСТВО ОБРАЗОВАНИЯ ИРКУТСКОЙ ОБЛАСТИ </a:t>
            </a:r>
          </a:p>
          <a:p>
            <a:pPr algn="ctr"/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Государственное бюджетное профессиональное образовательное учреждение Иркутской области «Ангарский промышленно – экономический техникум»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CBCA83-7B37-4755-BC10-364C30559C1A}"/>
              </a:ext>
            </a:extLst>
          </p:cNvPr>
          <p:cNvSpPr txBox="1"/>
          <p:nvPr/>
        </p:nvSpPr>
        <p:spPr>
          <a:xfrm>
            <a:off x="2190749" y="1613356"/>
            <a:ext cx="781049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ОТЧЁТ 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 практической подготовке в виде учебной практике профессионального модуля (ПМ.04) Сопровождение и обслуживание программного обеспечения компьютерных систем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4BA202-1243-40FF-B304-CDFCB77D4EE7}"/>
              </a:ext>
            </a:extLst>
          </p:cNvPr>
          <p:cNvSpPr txBox="1"/>
          <p:nvPr/>
        </p:nvSpPr>
        <p:spPr>
          <a:xfrm>
            <a:off x="2190749" y="3071389"/>
            <a:ext cx="8277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Arial" pitchFamily="34" charset="0"/>
                <a:cs typeface="Arial" pitchFamily="34" charset="0"/>
              </a:rPr>
              <a:t>по специальности  09.02.07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 </a:t>
            </a:r>
            <a:r>
              <a:rPr lang="ru-RU" sz="1600" dirty="0">
                <a:latin typeface="Arial" pitchFamily="34" charset="0"/>
                <a:cs typeface="Arial" pitchFamily="34" charset="0"/>
              </a:rPr>
              <a:t>Информационные системы и программирование </a:t>
            </a:r>
          </a:p>
          <a:p>
            <a:r>
              <a:rPr lang="ru-RU" sz="1600" dirty="0">
                <a:latin typeface="Arial" pitchFamily="34" charset="0"/>
                <a:cs typeface="Arial" pitchFamily="34" charset="0"/>
              </a:rPr>
              <a:t>обучающегося    4 курса     группы    ИСПП-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5</a:t>
            </a:r>
            <a:endParaRPr lang="ru-RU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23CF90-653F-4570-BF0C-3E95592B3681}"/>
              </a:ext>
            </a:extLst>
          </p:cNvPr>
          <p:cNvSpPr txBox="1"/>
          <p:nvPr/>
        </p:nvSpPr>
        <p:spPr>
          <a:xfrm>
            <a:off x="5551714" y="6074229"/>
            <a:ext cx="1224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г. Ангарск 2024 г.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6AAA9755-85F4-4DE7-AFB8-E3C29C5B849F}"/>
              </a:ext>
            </a:extLst>
          </p:cNvPr>
          <p:cNvCxnSpPr/>
          <p:nvPr/>
        </p:nvCxnSpPr>
        <p:spPr>
          <a:xfrm>
            <a:off x="2890021" y="4299025"/>
            <a:ext cx="64119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2BD0C4F-AB8D-4241-96FC-DD23A68FC3AC}"/>
              </a:ext>
            </a:extLst>
          </p:cNvPr>
          <p:cNvSpPr txBox="1"/>
          <p:nvPr/>
        </p:nvSpPr>
        <p:spPr>
          <a:xfrm>
            <a:off x="2945980" y="3864447"/>
            <a:ext cx="6436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Швидко Ивана Анатольевича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FD9238EF-09D0-439B-8E1B-4D234826E578}"/>
              </a:ext>
            </a:extLst>
          </p:cNvPr>
          <p:cNvCxnSpPr>
            <a:cxnSpLocks/>
          </p:cNvCxnSpPr>
          <p:nvPr/>
        </p:nvCxnSpPr>
        <p:spPr>
          <a:xfrm>
            <a:off x="4872942" y="4989905"/>
            <a:ext cx="43477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EC1C8AA-3746-45AE-8234-A70BD92A109D}"/>
              </a:ext>
            </a:extLst>
          </p:cNvPr>
          <p:cNvSpPr txBox="1"/>
          <p:nvPr/>
        </p:nvSpPr>
        <p:spPr>
          <a:xfrm>
            <a:off x="2457450" y="4705349"/>
            <a:ext cx="24726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Arial" pitchFamily="34" charset="0"/>
                <a:cs typeface="Arial" pitchFamily="34" charset="0"/>
              </a:rPr>
              <a:t>Руководитель практики</a:t>
            </a:r>
            <a:r>
              <a:rPr lang="ru-RU" sz="1400" dirty="0">
                <a:latin typeface="Arial" pitchFamily="34" charset="0"/>
                <a:cs typeface="Arial" pitchFamily="34" charset="0"/>
              </a:rPr>
              <a:t>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B974FD-3E1F-4BA0-9041-6CAE15A4B62C}"/>
              </a:ext>
            </a:extLst>
          </p:cNvPr>
          <p:cNvSpPr txBox="1"/>
          <p:nvPr/>
        </p:nvSpPr>
        <p:spPr>
          <a:xfrm>
            <a:off x="5190150" y="4633438"/>
            <a:ext cx="3736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Туркина Надежда Михайловна</a:t>
            </a:r>
          </a:p>
        </p:txBody>
      </p:sp>
    </p:spTree>
    <p:extLst>
      <p:ext uri="{BB962C8B-B14F-4D97-AF65-F5344CB8AC3E}">
        <p14:creationId xmlns:p14="http://schemas.microsoft.com/office/powerpoint/2010/main" val="124073431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Уголки">
  <a:themeElements>
    <a:clrScheme name="Литейная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Уголки">
      <a:maj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856</TotalTime>
  <Words>635</Words>
  <Application>Microsoft Office PowerPoint</Application>
  <PresentationFormat>Широкоэкранный</PresentationFormat>
  <Paragraphs>89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4" baseType="lpstr">
      <vt:lpstr>Arial</vt:lpstr>
      <vt:lpstr>Franklin Gothic Book</vt:lpstr>
      <vt:lpstr>Уголки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Иван</dc:creator>
  <cp:lastModifiedBy>Иван</cp:lastModifiedBy>
  <cp:revision>82</cp:revision>
  <dcterms:created xsi:type="dcterms:W3CDTF">2023-06-05T04:09:11Z</dcterms:created>
  <dcterms:modified xsi:type="dcterms:W3CDTF">2024-10-25T11:22:55Z</dcterms:modified>
</cp:coreProperties>
</file>