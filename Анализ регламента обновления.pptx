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1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48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2160000" algn="l"/>
            <a:r>
              <a:rPr lang="ru-RU" b="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Анализ регламента </a:t>
            </a:r>
            <a:r>
              <a:rPr lang="ru-RU" b="0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обновления</a:t>
            </a:r>
            <a:endParaRPr lang="ru-RU" b="0" dirty="0"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126560" cy="1199704"/>
          </a:xfrm>
        </p:spPr>
        <p:txBody>
          <a:bodyPr>
            <a:normAutofit/>
          </a:bodyPr>
          <a:lstStyle/>
          <a:p>
            <a:pPr marL="2160000" algn="l">
              <a:spcBef>
                <a:spcPts val="0"/>
              </a:spcBef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Выполнил: студент группы ИСПП-5</a:t>
            </a:r>
          </a:p>
          <a:p>
            <a:pPr marL="2160000" algn="l">
              <a:spcBef>
                <a:spcPts val="0"/>
              </a:spcBef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Неверов Дмитрий</a:t>
            </a:r>
          </a:p>
          <a:p>
            <a:endParaRPr lang="ru-RU" dirty="0"/>
          </a:p>
        </p:txBody>
      </p:sp>
      <p:sp>
        <p:nvSpPr>
          <p:cNvPr id="4" name="TextBox 4">
            <a:extLst>
              <a:ext uri="{FF2B5EF4-FFF2-40B4-BE49-F238E27FC236}">
                <a16:creationId xmlns="" xmlns:a16="http://schemas.microsoft.com/office/drawing/2014/main" xmlns:lc="http://schemas.openxmlformats.org/drawingml/2006/lockedCanvas" id="{22E0AF0B-A814-115F-F703-51A32A03605B}"/>
              </a:ext>
            </a:extLst>
          </p:cNvPr>
          <p:cNvSpPr txBox="1"/>
          <p:nvPr/>
        </p:nvSpPr>
        <p:spPr>
          <a:xfrm>
            <a:off x="899593" y="116632"/>
            <a:ext cx="72728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Иркутской области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«Ангарский промышленно – экономический техникум»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(ГБПОУ ИО «АПЭТ»)</a:t>
            </a:r>
          </a:p>
        </p:txBody>
      </p:sp>
      <p:sp>
        <p:nvSpPr>
          <p:cNvPr id="6" name="TextBox 9"/>
          <p:cNvSpPr txBox="1"/>
          <p:nvPr/>
        </p:nvSpPr>
        <p:spPr>
          <a:xfrm>
            <a:off x="3733886" y="6392391"/>
            <a:ext cx="1604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latin typeface="Arial" pitchFamily="34" charset="0"/>
                <a:cs typeface="Arial" pitchFamily="34" charset="0"/>
              </a:rPr>
              <a:t>Ангарск 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2024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г.</a:t>
            </a:r>
          </a:p>
        </p:txBody>
      </p:sp>
    </p:spTree>
    <p:extLst>
      <p:ext uri="{BB962C8B-B14F-4D97-AF65-F5344CB8AC3E}">
        <p14:creationId xmlns:p14="http://schemas.microsoft.com/office/powerpoint/2010/main" val="3441473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800" dirty="0" smtClean="0">
                <a:latin typeface="Arial" pitchFamily="34" charset="0"/>
                <a:cs typeface="Arial" pitchFamily="34" charset="0"/>
              </a:rPr>
              <a:t>	Процесс управления обновлениями безопасности состоит из приобретения, анализа и установки обновлений безопасности в </a:t>
            </a:r>
            <a:r>
              <a:rPr lang="ru-RU" sz="2800" dirty="0" err="1" smtClean="0">
                <a:latin typeface="Arial" pitchFamily="34" charset="0"/>
                <a:cs typeface="Arial" pitchFamily="34" charset="0"/>
              </a:rPr>
              <a:t>ИСПДн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Участниками процесса являются ИТ-специалисты.</a:t>
            </a:r>
            <a:endParaRPr lang="ru-RU" sz="28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>
                <a:latin typeface="Arial" pitchFamily="34" charset="0"/>
                <a:cs typeface="Arial" pitchFamily="34" charset="0"/>
              </a:rPr>
              <a:t>Процесс управления обновлениями безопасности</a:t>
            </a:r>
            <a:endParaRPr lang="ru-RU" sz="4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97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800" dirty="0" smtClean="0">
                <a:latin typeface="Arial" pitchFamily="34" charset="0"/>
                <a:cs typeface="Arial" pitchFamily="34" charset="0"/>
              </a:rPr>
              <a:t>	Комплекты обновлений безопасности должны быть приобретены только от разработчика ПО. Установка обновлений из недостоверных источников запрещается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Приобретение обновлений безопасности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26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Анализ обновлений безопасности осуществляется с использованием БДУ ФСТЭК России с целью применения обновлений безопасности, не связанных с наличием недокументированных возможностей. Если по результатам БДУ ФСТЭК России обновление безопасности имеет положительный вердикт, то обновление является безопасным и его установка возможна.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>
                <a:latin typeface="Arial" pitchFamily="34" charset="0"/>
                <a:cs typeface="Arial" pitchFamily="34" charset="0"/>
              </a:rPr>
              <a:t>Анализ обновлений безопасности</a:t>
            </a:r>
            <a:endParaRPr lang="ru-RU" sz="4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90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Запрещается устанавливать обновления в следующих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случиях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Информация об обновлении отсутствует на БДУ ФСТЭК России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Обновление в </a:t>
            </a:r>
            <a:r>
              <a:rPr lang="ru-RU" dirty="0">
                <a:latin typeface="Arial" pitchFamily="34" charset="0"/>
                <a:cs typeface="Arial" pitchFamily="34" charset="0"/>
              </a:rPr>
              <a:t>БДУ ФСТЭК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России имеет опасный вердикт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Обновление не прошло антивирусную проверку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>
                <a:latin typeface="Arial" pitchFamily="34" charset="0"/>
                <a:cs typeface="Arial" pitchFamily="34" charset="0"/>
              </a:rPr>
              <a:t>Анализ обновлений безопасности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851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	Проверка </a:t>
            </a:r>
            <a:r>
              <a:rPr lang="ru-RU" dirty="0">
                <a:latin typeface="Arial" pitchFamily="34" charset="0"/>
                <a:cs typeface="Arial" pitchFamily="34" charset="0"/>
              </a:rPr>
              <a:t>подлинности обновлений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безопасности </a:t>
            </a:r>
            <a:r>
              <a:rPr lang="ru-RU" dirty="0">
                <a:latin typeface="Arial" pitchFamily="34" charset="0"/>
                <a:cs typeface="Arial" pitchFamily="34" charset="0"/>
              </a:rPr>
              <a:t>проводится в случае наличия у исследователя возможности получить файл(ы) обновления безопасности в распакованном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виде </a:t>
            </a:r>
            <a:r>
              <a:rPr lang="ru-RU" dirty="0">
                <a:latin typeface="Arial" pitchFamily="34" charset="0"/>
                <a:cs typeface="Arial" pitchFamily="34" charset="0"/>
              </a:rPr>
              <a:t>до его установки в среде функционирования, а также при наличии предоставляемых разработчиком обновления штатных средств проверки подлинности файла(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ов</a:t>
            </a:r>
            <a:r>
              <a:rPr lang="ru-RU" dirty="0">
                <a:latin typeface="Arial" pitchFamily="34" charset="0"/>
                <a:cs typeface="Arial" pitchFamily="34" charset="0"/>
              </a:rPr>
              <a:t>) обновления безопасности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.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>
                <a:effectLst/>
                <a:latin typeface="Arial" pitchFamily="34" charset="0"/>
                <a:cs typeface="Arial" pitchFamily="34" charset="0"/>
              </a:rPr>
              <a:t>Проверка подлинности обновлений </a:t>
            </a:r>
            <a:r>
              <a:rPr lang="ru-RU" sz="4000" dirty="0" smtClean="0">
                <a:effectLst/>
                <a:latin typeface="Arial" pitchFamily="34" charset="0"/>
                <a:cs typeface="Arial" pitchFamily="34" charset="0"/>
              </a:rPr>
              <a:t>безопасности</a:t>
            </a:r>
            <a:endParaRPr lang="ru-RU" sz="4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84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Проверка подлинности обновлений предусматривает: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Font typeface="+mj-lt"/>
              <a:buAutoNum type="arabicParenR"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распаковку файла(</a:t>
            </a:r>
            <a:r>
              <a:rPr lang="ru-RU" sz="3600" dirty="0" err="1" smtClean="0">
                <a:latin typeface="Arial" pitchFamily="34" charset="0"/>
                <a:cs typeface="Arial" pitchFamily="34" charset="0"/>
              </a:rPr>
              <a:t>ов</a:t>
            </a:r>
            <a:r>
              <a:rPr lang="ru-RU" sz="3600" dirty="0">
                <a:latin typeface="Arial" pitchFamily="34" charset="0"/>
                <a:cs typeface="Arial" pitchFamily="34" charset="0"/>
              </a:rPr>
              <a:t>) обновления безопасности;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Font typeface="+mj-lt"/>
              <a:buAutoNum type="arabicParenR"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определение </a:t>
            </a:r>
            <a:r>
              <a:rPr lang="ru-RU" sz="3600" dirty="0">
                <a:latin typeface="Arial" pitchFamily="34" charset="0"/>
                <a:cs typeface="Arial" pitchFamily="34" charset="0"/>
              </a:rPr>
              <a:t>критериев </a:t>
            </a:r>
            <a:r>
              <a:rPr lang="ru-RU" sz="3600" dirty="0" smtClean="0">
                <a:latin typeface="Arial" pitchFamily="34" charset="0"/>
                <a:cs typeface="Arial" pitchFamily="34" charset="0"/>
              </a:rPr>
              <a:t>проверки подлинности </a:t>
            </a:r>
            <a:r>
              <a:rPr lang="ru-RU" sz="3600" dirty="0">
                <a:latin typeface="Arial" pitchFamily="34" charset="0"/>
                <a:cs typeface="Arial" pitchFamily="34" charset="0"/>
              </a:rPr>
              <a:t>файла(</a:t>
            </a:r>
            <a:r>
              <a:rPr lang="ru-RU" sz="3600" dirty="0" err="1">
                <a:latin typeface="Arial" pitchFamily="34" charset="0"/>
                <a:cs typeface="Arial" pitchFamily="34" charset="0"/>
              </a:rPr>
              <a:t>ов</a:t>
            </a:r>
            <a:r>
              <a:rPr lang="ru-RU" sz="3600" dirty="0">
                <a:latin typeface="Arial" pitchFamily="34" charset="0"/>
                <a:cs typeface="Arial" pitchFamily="34" charset="0"/>
              </a:rPr>
              <a:t>) </a:t>
            </a:r>
            <a:r>
              <a:rPr lang="ru-RU" sz="3600" dirty="0" smtClean="0">
                <a:latin typeface="Arial" pitchFamily="34" charset="0"/>
                <a:cs typeface="Arial" pitchFamily="34" charset="0"/>
              </a:rPr>
              <a:t>обновления безопасности</a:t>
            </a:r>
            <a:r>
              <a:rPr lang="ru-RU" sz="3600" dirty="0">
                <a:latin typeface="Arial" pitchFamily="34" charset="0"/>
                <a:cs typeface="Arial" pitchFamily="34" charset="0"/>
              </a:rPr>
              <a:t>. В качестве критериев проверки подлинности файла(</a:t>
            </a:r>
            <a:r>
              <a:rPr lang="ru-RU" sz="3600" dirty="0" err="1">
                <a:latin typeface="Arial" pitchFamily="34" charset="0"/>
                <a:cs typeface="Arial" pitchFamily="34" charset="0"/>
              </a:rPr>
              <a:t>ов</a:t>
            </a:r>
            <a:r>
              <a:rPr lang="ru-RU" sz="3600" dirty="0">
                <a:latin typeface="Arial" pitchFamily="34" charset="0"/>
                <a:cs typeface="Arial" pitchFamily="34" charset="0"/>
              </a:rPr>
              <a:t>) обновления могут выступать контрольные суммы файлов, электронная цифровая подпись файлов или иные критерии проверки подлинности файла(</a:t>
            </a:r>
            <a:r>
              <a:rPr lang="ru-RU" sz="3600" dirty="0" err="1">
                <a:latin typeface="Arial" pitchFamily="34" charset="0"/>
                <a:cs typeface="Arial" pitchFamily="34" charset="0"/>
              </a:rPr>
              <a:t>ов</a:t>
            </a:r>
            <a:r>
              <a:rPr lang="ru-RU" sz="3600" dirty="0">
                <a:latin typeface="Arial" pitchFamily="34" charset="0"/>
                <a:cs typeface="Arial" pitchFamily="34" charset="0"/>
              </a:rPr>
              <a:t>) обновления безопасности, предоставляемые его разработчиком.</a:t>
            </a:r>
          </a:p>
          <a:p>
            <a:pPr marL="109728" indent="0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>
                <a:effectLst/>
                <a:latin typeface="Arial" pitchFamily="34" charset="0"/>
                <a:cs typeface="Arial" pitchFamily="34" charset="0"/>
              </a:rPr>
              <a:t>Проверка подлинности обновлений безопасности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1393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2160000" algn="l"/>
            <a:r>
              <a:rPr lang="ru-RU" b="0" dirty="0">
                <a:solidFill>
                  <a:schemeClr val="tx1"/>
                </a:solidFill>
                <a:effectLst/>
              </a:rPr>
              <a:t>Анализ регламента обновления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126560" cy="1199704"/>
          </a:xfrm>
        </p:spPr>
        <p:txBody>
          <a:bodyPr>
            <a:normAutofit/>
          </a:bodyPr>
          <a:lstStyle/>
          <a:p>
            <a:pPr marL="2160000" algn="l">
              <a:spcBef>
                <a:spcPts val="0"/>
              </a:spcBef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Выполнил: студент группы ИСПП-5</a:t>
            </a:r>
          </a:p>
          <a:p>
            <a:pPr marL="2160000" algn="l">
              <a:spcBef>
                <a:spcPts val="0"/>
              </a:spcBef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Неверов Дмитрий</a:t>
            </a:r>
          </a:p>
          <a:p>
            <a:endParaRPr lang="ru-RU" dirty="0"/>
          </a:p>
        </p:txBody>
      </p:sp>
      <p:sp>
        <p:nvSpPr>
          <p:cNvPr id="4" name="TextBox 4">
            <a:extLst>
              <a:ext uri="{FF2B5EF4-FFF2-40B4-BE49-F238E27FC236}">
                <a16:creationId xmlns="" xmlns:a16="http://schemas.microsoft.com/office/drawing/2014/main" xmlns:lc="http://schemas.openxmlformats.org/drawingml/2006/lockedCanvas" id="{22E0AF0B-A814-115F-F703-51A32A03605B}"/>
              </a:ext>
            </a:extLst>
          </p:cNvPr>
          <p:cNvSpPr txBox="1"/>
          <p:nvPr/>
        </p:nvSpPr>
        <p:spPr>
          <a:xfrm>
            <a:off x="899593" y="116632"/>
            <a:ext cx="72728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Иркутской области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«Ангарский промышленно – экономический техникум»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(ГБПОУ ИО «АПЭТ»)</a:t>
            </a:r>
          </a:p>
        </p:txBody>
      </p:sp>
      <p:sp>
        <p:nvSpPr>
          <p:cNvPr id="6" name="TextBox 9"/>
          <p:cNvSpPr txBox="1"/>
          <p:nvPr/>
        </p:nvSpPr>
        <p:spPr>
          <a:xfrm>
            <a:off x="3733886" y="6392391"/>
            <a:ext cx="1604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latin typeface="Arial" pitchFamily="34" charset="0"/>
                <a:cs typeface="Arial" pitchFamily="34" charset="0"/>
              </a:rPr>
              <a:t>Ангарск 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2024 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г.</a:t>
            </a:r>
          </a:p>
        </p:txBody>
      </p:sp>
    </p:spTree>
    <p:extLst>
      <p:ext uri="{BB962C8B-B14F-4D97-AF65-F5344CB8AC3E}">
        <p14:creationId xmlns:p14="http://schemas.microsoft.com/office/powerpoint/2010/main" val="727036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54</TotalTime>
  <Words>220</Words>
  <Application>Microsoft Office PowerPoint</Application>
  <PresentationFormat>Экран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Открытая</vt:lpstr>
      <vt:lpstr>Анализ регламента обновления</vt:lpstr>
      <vt:lpstr>Процесс управления обновлениями безопасности</vt:lpstr>
      <vt:lpstr>Приобретение обновлений безопасности</vt:lpstr>
      <vt:lpstr>Анализ обновлений безопасности</vt:lpstr>
      <vt:lpstr>Анализ обновлений безопасности</vt:lpstr>
      <vt:lpstr>Проверка подлинности обновлений безопасности</vt:lpstr>
      <vt:lpstr>Проверка подлинности обновлений безопасности</vt:lpstr>
      <vt:lpstr>Анализ регламента обновления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регламента обновления</dc:title>
  <dc:creator>Неверов_ДС</dc:creator>
  <cp:lastModifiedBy>Неверов_ДС</cp:lastModifiedBy>
  <cp:revision>5</cp:revision>
  <dcterms:created xsi:type="dcterms:W3CDTF">2024-05-08T01:14:08Z</dcterms:created>
  <dcterms:modified xsi:type="dcterms:W3CDTF">2024-05-17T01:23:38Z</dcterms:modified>
</cp:coreProperties>
</file>