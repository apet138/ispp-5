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BE8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50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97F0FA2-7EBE-44DE-8B42-0A69B6F070A6}" type="datetimeFigureOut">
              <a:rPr lang="ru-RU" smtClean="0"/>
              <a:t>18.06.2025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029646974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0FA2-7EBE-44DE-8B42-0A69B6F070A6}" type="datetimeFigureOut">
              <a:rPr lang="ru-RU" smtClean="0"/>
              <a:t>18.06.2025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833875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7F0FA2-7EBE-44DE-8B42-0A69B6F070A6}" type="datetimeFigureOut">
              <a:rPr lang="ru-RU" smtClean="0"/>
              <a:t>18.06.2025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76857286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0FA2-7EBE-44DE-8B42-0A69B6F070A6}" type="datetimeFigureOut">
              <a:rPr lang="ru-RU" smtClean="0"/>
              <a:t>18.06.2025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3453338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0FA2-7EBE-44DE-8B42-0A69B6F070A6}" type="datetimeFigureOut">
              <a:rPr lang="ru-RU" smtClean="0"/>
              <a:t>18.06.2025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833678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0FA2-7EBE-44DE-8B42-0A69B6F070A6}" type="datetimeFigureOut">
              <a:rPr lang="ru-RU" smtClean="0"/>
              <a:t>18.06.2025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480739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0FA2-7EBE-44DE-8B42-0A69B6F070A6}" type="datetimeFigureOut">
              <a:rPr lang="ru-RU" smtClean="0"/>
              <a:t>18.06.2025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353319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7F0FA2-7EBE-44DE-8B42-0A69B6F070A6}" type="datetimeFigureOut">
              <a:rPr lang="ru-RU" smtClean="0"/>
              <a:t>18.06.2025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40195969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7F0FA2-7EBE-44DE-8B42-0A69B6F070A6}" type="datetimeFigureOut">
              <a:rPr lang="ru-RU" smtClean="0"/>
              <a:t>18.06.2025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39561581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0FA2-7EBE-44DE-8B42-0A69B6F070A6}" type="datetimeFigureOut">
              <a:rPr lang="ru-RU" smtClean="0"/>
              <a:t>18.06.2025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707503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0FA2-7EBE-44DE-8B42-0A69B6F070A6}" type="datetimeFigureOut">
              <a:rPr lang="ru-RU" smtClean="0"/>
              <a:t>18.06.2025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5497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A97F0FA2-7EBE-44DE-8B42-0A69B6F070A6}" type="datetimeFigureOut">
              <a:rPr lang="ru-RU" smtClean="0"/>
              <a:t>18.06.2025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5699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../../../../../Desktop/&#1047;&#1072;&#1087;&#1080;&#1089;&#1100;%202025-06-18%20212105.mp4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123CF90-653F-4570-BF0C-3E95592B3681}"/>
              </a:ext>
            </a:extLst>
          </p:cNvPr>
          <p:cNvSpPr txBox="1"/>
          <p:nvPr/>
        </p:nvSpPr>
        <p:spPr>
          <a:xfrm>
            <a:off x="5483677" y="6060161"/>
            <a:ext cx="1224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г. Ангарск 2025 г.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603F18A-B635-40FF-A025-11AFF87CF930}"/>
              </a:ext>
            </a:extLst>
          </p:cNvPr>
          <p:cNvSpPr/>
          <p:nvPr/>
        </p:nvSpPr>
        <p:spPr>
          <a:xfrm>
            <a:off x="1714472" y="105009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10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МИНИСТЕРСТВО ОБРАЗОВАНИЯ ИРКУТСКОЙ ОБЛАСТИ </a:t>
            </a:r>
          </a:p>
          <a:p>
            <a:pPr algn="ctr"/>
            <a:r>
              <a:rPr lang="ru-RU" sz="110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Государственное бюджетное профессиональное образовательное учреждение</a:t>
            </a:r>
          </a:p>
          <a:p>
            <a:pPr algn="ctr"/>
            <a:r>
              <a:rPr lang="ru-RU" sz="110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Иркутской области</a:t>
            </a:r>
          </a:p>
          <a:p>
            <a:pPr algn="ctr"/>
            <a:r>
              <a:rPr lang="ru-RU" sz="110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«Ангарский промышленно – экономический техникум» 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F83EC5A-8B18-4172-82DA-A6969DA35182}"/>
              </a:ext>
            </a:extLst>
          </p:cNvPr>
          <p:cNvSpPr/>
          <p:nvPr/>
        </p:nvSpPr>
        <p:spPr>
          <a:xfrm>
            <a:off x="2019268" y="1691163"/>
            <a:ext cx="85273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Выпускная квалификационная работа на тему:</a:t>
            </a:r>
            <a:endParaRPr lang="ru-RU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B0C6D388-E93D-4EA7-A95A-86E7DA5B5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174030"/>
              </p:ext>
            </p:extLst>
          </p:nvPr>
        </p:nvGraphicFramePr>
        <p:xfrm>
          <a:off x="2848423" y="3749039"/>
          <a:ext cx="6869003" cy="14177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1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8021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Tahoma" pitchFamily="34" charset="0"/>
                          <a:cs typeface="Arial" panose="020B0604020202020204" pitchFamily="34" charset="0"/>
                        </a:rPr>
                        <a:t>по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Tahoma" pitchFamily="34" charset="0"/>
                          <a:cs typeface="Arial" panose="020B0604020202020204" pitchFamily="34" charset="0"/>
                        </a:rPr>
                        <a:t> специальности</a:t>
                      </a:r>
                      <a:endParaRPr lang="ru-RU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Tahoma" pitchFamily="34" charset="0"/>
                        <a:cs typeface="Arial" panose="020B0604020202020204" pitchFamily="34" charset="0"/>
                      </a:endParaRPr>
                    </a:p>
                  </a:txBody>
                  <a:tcPr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Tahoma" pitchFamily="34" charset="0"/>
                          <a:cs typeface="Arial" panose="020B0604020202020204" pitchFamily="34" charset="0"/>
                        </a:rPr>
                        <a:t>09.02.07 Информационные системы и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Tahoma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Tahoma" pitchFamily="34" charset="0"/>
                          <a:cs typeface="Arial" panose="020B0604020202020204" pitchFamily="34" charset="0"/>
                        </a:rPr>
                        <a:t>программирование </a:t>
                      </a:r>
                    </a:p>
                  </a:txBody>
                  <a:tcPr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877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Tahoma" pitchFamily="34" charset="0"/>
                          <a:cs typeface="Arial" panose="020B0604020202020204" pitchFamily="34" charset="0"/>
                        </a:rPr>
                        <a:t>обучающегося </a:t>
                      </a:r>
                    </a:p>
                  </a:txBody>
                  <a:tcPr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Tahoma" pitchFamily="34" charset="0"/>
                          <a:cs typeface="Arial" panose="020B0604020202020204" pitchFamily="34" charset="0"/>
                        </a:rPr>
                        <a:t> 4 курса группы ИСПП-5</a:t>
                      </a:r>
                    </a:p>
                  </a:txBody>
                  <a:tcPr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423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Tahoma" pitchFamily="34" charset="0"/>
                          <a:cs typeface="Arial" panose="020B0604020202020204" pitchFamily="34" charset="0"/>
                        </a:rPr>
                        <a:t>Швидко Ивана Анатольевича</a:t>
                      </a:r>
                    </a:p>
                  </a:txBody>
                  <a:tcPr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96BF3ED-1521-49C2-830C-526F28D34EBB}"/>
              </a:ext>
            </a:extLst>
          </p:cNvPr>
          <p:cNvSpPr/>
          <p:nvPr/>
        </p:nvSpPr>
        <p:spPr>
          <a:xfrm>
            <a:off x="3316723" y="2248061"/>
            <a:ext cx="593240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Разработка автоматизированной информационной системы для компании занимающейся чисткой ковров</a:t>
            </a:r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A61F69F-1839-4C7A-A7D5-50773ABD9933}"/>
              </a:ext>
            </a:extLst>
          </p:cNvPr>
          <p:cNvSpPr/>
          <p:nvPr/>
        </p:nvSpPr>
        <p:spPr>
          <a:xfrm>
            <a:off x="9926320" y="4675167"/>
            <a:ext cx="21234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lang="ru-RU" sz="1600" baseline="30000" dirty="0">
                <a:cs typeface="Calibri" pitchFamily="34" charset="0"/>
              </a:rPr>
              <a:t> </a:t>
            </a:r>
            <a:r>
              <a:rPr lang="ru-RU" sz="1400" dirty="0"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Руководитель:</a:t>
            </a:r>
          </a:p>
          <a:p>
            <a:pPr algn="r">
              <a:spcBef>
                <a:spcPts val="0"/>
              </a:spcBef>
            </a:pPr>
            <a:r>
              <a:rPr lang="ru-RU" sz="1400" dirty="0"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Ускова Д.Н.</a:t>
            </a:r>
          </a:p>
          <a:p>
            <a:pPr algn="r">
              <a:spcBef>
                <a:spcPts val="0"/>
              </a:spcBef>
            </a:pPr>
            <a:endParaRPr lang="ru-RU" sz="1400" dirty="0"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  <a:p>
            <a:pPr algn="r">
              <a:spcBef>
                <a:spcPts val="0"/>
              </a:spcBef>
            </a:pPr>
            <a:r>
              <a:rPr lang="ru-RU" sz="1400" dirty="0"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 Консультанты:</a:t>
            </a:r>
          </a:p>
          <a:p>
            <a:pPr algn="r"/>
            <a:r>
              <a:rPr lang="ru-RU" sz="1400" dirty="0"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Акулова Т.В. Купрюшина И.Г.</a:t>
            </a:r>
          </a:p>
          <a:p>
            <a:pPr algn="r">
              <a:spcBef>
                <a:spcPts val="0"/>
              </a:spcBef>
            </a:pPr>
            <a:endParaRPr lang="ru-RU" sz="1400" dirty="0"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  <a:p>
            <a:pPr algn="r">
              <a:spcBef>
                <a:spcPts val="0"/>
              </a:spcBef>
            </a:pPr>
            <a:r>
              <a:rPr lang="ru-RU" sz="1400" dirty="0"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Рецензент:</a:t>
            </a:r>
          </a:p>
          <a:p>
            <a:pPr algn="r">
              <a:spcBef>
                <a:spcPts val="0"/>
              </a:spcBef>
            </a:pPr>
            <a:r>
              <a:rPr lang="ru-RU" sz="1400" dirty="0"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Петрова Н.В.</a:t>
            </a:r>
          </a:p>
        </p:txBody>
      </p:sp>
    </p:spTree>
    <p:extLst>
      <p:ext uri="{BB962C8B-B14F-4D97-AF65-F5344CB8AC3E}">
        <p14:creationId xmlns:p14="http://schemas.microsoft.com/office/powerpoint/2010/main" val="2775780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1164961" y="440735"/>
            <a:ext cx="30326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71CC3-70D8-43BC-977C-BB68D18FBA98}"/>
              </a:ext>
            </a:extLst>
          </p:cNvPr>
          <p:cNvSpPr txBox="1"/>
          <p:nvPr/>
        </p:nvSpPr>
        <p:spPr>
          <a:xfrm>
            <a:off x="1301933" y="1761385"/>
            <a:ext cx="10238014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88000" algn="just" fontAlgn="base">
              <a:lnSpc>
                <a:spcPct val="150000"/>
              </a:lnSpc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 современных условиях ведения бизнеса, где качество обслуживания клиентов и эффективность бизнес-процессов играют ключевую роль, возникает острая необходимость в автоматизации деятельности компаний по обслуживанию ковровых покрытий, особенно учитывая сложность процессов планирования замен, контроля складских запасов, организации логистики и учета статусов ковров при работе с крупными корпоративными клиентами.</a:t>
            </a:r>
          </a:p>
        </p:txBody>
      </p:sp>
    </p:spTree>
    <p:extLst>
      <p:ext uri="{BB962C8B-B14F-4D97-AF65-F5344CB8AC3E}">
        <p14:creationId xmlns:p14="http://schemas.microsoft.com/office/powerpoint/2010/main" val="421817954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1164961" y="440735"/>
            <a:ext cx="12300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71CC3-70D8-43BC-977C-BB68D18FBA98}"/>
              </a:ext>
            </a:extLst>
          </p:cNvPr>
          <p:cNvSpPr txBox="1"/>
          <p:nvPr/>
        </p:nvSpPr>
        <p:spPr>
          <a:xfrm>
            <a:off x="1301933" y="1761385"/>
            <a:ext cx="10238014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88000" algn="just" fontAlgn="base">
              <a:lnSpc>
                <a:spcPct val="150000"/>
              </a:lnSpc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Целью выпускной квалификационной работы является создание информационной системы, которая позволит автоматизировать бизнес-процессы компании по обслуживанию ковровых изделий. Это позволит решать актуальные задачи быстрее и эффективнее.</a:t>
            </a:r>
          </a:p>
        </p:txBody>
      </p:sp>
    </p:spTree>
    <p:extLst>
      <p:ext uri="{BB962C8B-B14F-4D97-AF65-F5344CB8AC3E}">
        <p14:creationId xmlns:p14="http://schemas.microsoft.com/office/powerpoint/2010/main" val="296126428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1164961" y="440735"/>
            <a:ext cx="163801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71CC3-70D8-43BC-977C-BB68D18FBA98}"/>
              </a:ext>
            </a:extLst>
          </p:cNvPr>
          <p:cNvSpPr txBox="1"/>
          <p:nvPr/>
        </p:nvSpPr>
        <p:spPr>
          <a:xfrm>
            <a:off x="1301933" y="1537865"/>
            <a:ext cx="10238014" cy="3739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457200" algn="just">
              <a:lnSpc>
                <a:spcPct val="150000"/>
              </a:lnSpc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Для достижения поставленной цели были определены следующие задачи:</a:t>
            </a:r>
          </a:p>
          <a:p>
            <a:pPr lvl="0" indent="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Определить основные проблемы в текущих процессах взаимодействия с клиентами, опираясь на глубокое понимание предметной области;</a:t>
            </a:r>
          </a:p>
          <a:p>
            <a:pPr lvl="0" indent="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Изучить успешный опыт использования 1С в смежных отраслях для поиска оптимальных решений;</a:t>
            </a:r>
          </a:p>
          <a:p>
            <a:pPr lvl="0" indent="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Сформулировать аргументы в пользу выбора платформы 1С и конкретных технологий для автоматизации;</a:t>
            </a:r>
          </a:p>
          <a:p>
            <a:pPr lvl="0" indent="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Разработать проект архитектуры информационной системы на базе 1С, определяющий ее структуру и взаимодействие компонентов;</a:t>
            </a:r>
          </a:p>
          <a:p>
            <a:pPr lvl="0" indent="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Создать действующий прототип системы в 1С, демонстрирующий функциональность обработки и хранения клиентских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0365849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1164961" y="440735"/>
            <a:ext cx="54942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Сведения об организации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71CC3-70D8-43BC-977C-BB68D18FBA98}"/>
              </a:ext>
            </a:extLst>
          </p:cNvPr>
          <p:cNvSpPr txBox="1"/>
          <p:nvPr/>
        </p:nvSpPr>
        <p:spPr>
          <a:xfrm>
            <a:off x="1301933" y="1537865"/>
            <a:ext cx="10238014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457200" algn="just">
              <a:lnSpc>
                <a:spcPct val="150000"/>
              </a:lnSpc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ООО НПФ «Форус» представляет собой научно-производственную компанию с ограниченной ответственностью, специализирующуюся на консультационных услугах и деятельности в сфере компьютерных технологий.</a:t>
            </a:r>
          </a:p>
          <a:p>
            <a:pPr lvl="0" indent="457200" algn="just">
              <a:lnSpc>
                <a:spcPct val="150000"/>
              </a:lnSpc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Основной вид деятельности:</a:t>
            </a:r>
          </a:p>
          <a:p>
            <a:pPr lvl="0" indent="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компьютерного программного обеспечения (ОКВЭД 62.01).</a:t>
            </a:r>
          </a:p>
          <a:p>
            <a:pPr indent="457200" algn="just">
              <a:lnSpc>
                <a:spcPct val="150000"/>
              </a:lnSpc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Центры работают с клиентами и партнёрами компании, именно от их работы зависит финансовая успешность компании, возможность расти и развиваться. Службы — это отделы, которые занимаются внутренними процессами "Форус": работой с сотрудниками, информационным обеспечением, финансами и т.д. Они помогают компании работать без сбоев и поддерживают внутренний порядок.</a:t>
            </a:r>
          </a:p>
          <a:p>
            <a:pPr lvl="0" algn="just">
              <a:lnSpc>
                <a:spcPct val="150000"/>
              </a:lnSpc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CBA6DB3F-943C-4FB7-909F-DBE1563D6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3040" y="5493897"/>
            <a:ext cx="2600960" cy="921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514459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1164961" y="440735"/>
            <a:ext cx="97896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Выбор технологии программного обеспечения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71CC3-70D8-43BC-977C-BB68D18FBA98}"/>
              </a:ext>
            </a:extLst>
          </p:cNvPr>
          <p:cNvSpPr txBox="1"/>
          <p:nvPr/>
        </p:nvSpPr>
        <p:spPr>
          <a:xfrm>
            <a:off x="1301933" y="1537865"/>
            <a:ext cx="10238014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spcAft>
                <a:spcPts val="1200"/>
              </a:spcAft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Для разработки информационной системы автоматизирующей бизнес-процессы связанные с чисткой ковров, было принято решение использовать программу 1С Предприятие 8.3.</a:t>
            </a:r>
          </a:p>
          <a:p>
            <a:pPr indent="457200" algn="just">
              <a:spcAft>
                <a:spcPts val="1200"/>
              </a:spcAft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Данное программное решение выгодно отличается от конкурентов следующими ключевыми характеристиками:</a:t>
            </a:r>
          </a:p>
          <a:p>
            <a:pPr indent="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Экономическая эффективность - доступная стоимость базовой версии и минимальные затраты на техническую поддержку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Гибкость конфигурации - широкие возможности для создания различных программных решений под конкретные задачи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Масштабируемость - платформа адаптируется под любые цели и потребности предприятия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Кастомизация - возможность индивидуальной доработки функционала на базе существующей платформы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Управление системой - эффективные инструменты для администрирования программного продукта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1C:Предприятие 8.3. Версия для обучения программированию - ГК  «АгроСервис-ИТ»">
            <a:extLst>
              <a:ext uri="{FF2B5EF4-FFF2-40B4-BE49-F238E27FC236}">
                <a16:creationId xmlns:a16="http://schemas.microsoft.com/office/drawing/2014/main" id="{D95BF04D-79A7-402F-91B7-D5ACB173A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0698" y="5320135"/>
            <a:ext cx="1468021" cy="11466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90720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1164961" y="440735"/>
            <a:ext cx="79461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Диаграмма вариантов использования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CF5786-78CD-4770-9F86-65E49AF7683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170" y="1069055"/>
            <a:ext cx="10906034" cy="5577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476834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9788B46-99AE-4CA5-B5A7-C32A2AA5FA45}"/>
              </a:ext>
            </a:extLst>
          </p:cNvPr>
          <p:cNvSpPr/>
          <p:nvPr/>
        </p:nvSpPr>
        <p:spPr>
          <a:xfrm>
            <a:off x="1524000" y="2678672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Демонстрация приложения для пользователя «Менеджер»</a:t>
            </a: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446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1164961" y="440735"/>
            <a:ext cx="45943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Экономическая часть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4EF384A-66FA-4EC0-B8A1-738F38F97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6" t="2447" r="767" b="2753"/>
          <a:stretch/>
        </p:blipFill>
        <p:spPr>
          <a:xfrm>
            <a:off x="1541584" y="1666240"/>
            <a:ext cx="9108831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8827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1164961" y="440735"/>
            <a:ext cx="26698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71CC3-70D8-43BC-977C-BB68D18FBA98}"/>
              </a:ext>
            </a:extLst>
          </p:cNvPr>
          <p:cNvSpPr txBox="1"/>
          <p:nvPr/>
        </p:nvSpPr>
        <p:spPr>
          <a:xfrm>
            <a:off x="1301933" y="1761385"/>
            <a:ext cx="10238014" cy="263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88000" algn="just" fontAlgn="base">
              <a:lnSpc>
                <a:spcPct val="150000"/>
              </a:lnSpc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 ходе выполнения дипломного проекта была достигнута поставленная цель - создание автоматизированной информационной системы для компании, специализирующейся на предоставлении услуг по чистке и замене ковровых покрытий для юридических лиц.</a:t>
            </a:r>
          </a:p>
          <a:p>
            <a:pPr indent="288000" algn="just" fontAlgn="base">
              <a:lnSpc>
                <a:spcPct val="150000"/>
              </a:lnSpc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Разработанная информационная система позволяет автоматизировать ключевые бизнес-процессы компании: планирование замен ковровых покрытий, контроль складских запасов, организацию логистики и учет статусов ковров. </a:t>
            </a:r>
          </a:p>
          <a:p>
            <a:pPr indent="288000" algn="just" fontAlgn="base">
              <a:lnSpc>
                <a:spcPct val="150000"/>
              </a:lnSpc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Цель и задачи дипломного проекта выполнены в полном объеме.</a:t>
            </a:r>
          </a:p>
        </p:txBody>
      </p:sp>
    </p:spTree>
    <p:extLst>
      <p:ext uri="{BB962C8B-B14F-4D97-AF65-F5344CB8AC3E}">
        <p14:creationId xmlns:p14="http://schemas.microsoft.com/office/powerpoint/2010/main" val="288109732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Уголки">
  <a:themeElements>
    <a:clrScheme name="Другая 7">
      <a:dk1>
        <a:sysClr val="windowText" lastClr="000000"/>
      </a:dk1>
      <a:lt1>
        <a:sysClr val="window" lastClr="FFFFFF"/>
      </a:lt1>
      <a:dk2>
        <a:srgbClr val="000066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000000"/>
      </a:hlink>
      <a:folHlink>
        <a:srgbClr val="7F7F7F"/>
      </a:folHlink>
    </a:clrScheme>
    <a:fontScheme name="Уголки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TM04033925[[fn=Капля]]</Template>
  <TotalTime>1336</TotalTime>
  <Words>523</Words>
  <Application>Microsoft Office PowerPoint</Application>
  <PresentationFormat>Широкоэкранный</PresentationFormat>
  <Paragraphs>51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Franklin Gothic Book</vt:lpstr>
      <vt:lpstr>Tahoma</vt:lpstr>
      <vt:lpstr>Times New Roman</vt:lpstr>
      <vt:lpstr>Уголки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Иван</dc:creator>
  <cp:lastModifiedBy>Иван</cp:lastModifiedBy>
  <cp:revision>97</cp:revision>
  <dcterms:created xsi:type="dcterms:W3CDTF">2023-06-05T04:09:11Z</dcterms:created>
  <dcterms:modified xsi:type="dcterms:W3CDTF">2025-06-18T15:25:30Z</dcterms:modified>
</cp:coreProperties>
</file>